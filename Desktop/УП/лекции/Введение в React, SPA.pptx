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353" r:id="rId5"/>
    <p:sldId id="329" r:id="rId6"/>
    <p:sldId id="354" r:id="rId7"/>
    <p:sldId id="331" r:id="rId8"/>
    <p:sldId id="345" r:id="rId9"/>
    <p:sldId id="355" r:id="rId10"/>
    <p:sldId id="347" r:id="rId11"/>
    <p:sldId id="348" r:id="rId12"/>
    <p:sldId id="349" r:id="rId13"/>
    <p:sldId id="350" r:id="rId14"/>
    <p:sldId id="351" r:id="rId15"/>
    <p:sldId id="352" r:id="rId16"/>
    <p:sldId id="356" r:id="rId17"/>
    <p:sldId id="357" r:id="rId18"/>
    <p:sldId id="358" r:id="rId19"/>
    <p:sldId id="369" r:id="rId20"/>
    <p:sldId id="359" r:id="rId21"/>
    <p:sldId id="360" r:id="rId22"/>
    <p:sldId id="361" r:id="rId23"/>
    <p:sldId id="363" r:id="rId24"/>
    <p:sldId id="364" r:id="rId25"/>
    <p:sldId id="365" r:id="rId26"/>
    <p:sldId id="366" r:id="rId27"/>
    <p:sldId id="367" r:id="rId28"/>
    <p:sldId id="368" r:id="rId29"/>
    <p:sldId id="362" r:id="rId30"/>
    <p:sldId id="370" r:id="rId31"/>
    <p:sldId id="371" r:id="rId32"/>
    <p:sldId id="372" r:id="rId33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7D9"/>
    <a:srgbClr val="93D3D9"/>
    <a:srgbClr val="AAD6FF"/>
    <a:srgbClr val="B2C8CD"/>
    <a:srgbClr val="CCD8D6"/>
    <a:srgbClr val="4F5945"/>
    <a:srgbClr val="73292A"/>
    <a:srgbClr val="7F867A"/>
    <a:srgbClr val="A6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966" autoAdjust="0"/>
  </p:normalViewPr>
  <p:slideViewPr>
    <p:cSldViewPr snapToGrid="0">
      <p:cViewPr varScale="1">
        <p:scale>
          <a:sx n="109" d="100"/>
          <a:sy n="109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278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A49852A6-C536-198B-0B36-808C24FAAF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Местозаполнитель даты 2">
            <a:extLst>
              <a:ext uri="{FF2B5EF4-FFF2-40B4-BE49-F238E27FC236}">
                <a16:creationId xmlns:a16="http://schemas.microsoft.com/office/drawing/2014/main" id="{9F40B29C-E84A-E4D1-8998-1A961EC23B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2A5AE42-7DC1-8140-9B13-146984FDEF22}" type="datetimeFigureOut">
              <a:rPr lang="en-US" smtClean="0"/>
              <a:t>9/21/2025</a:t>
            </a:fld>
            <a:endParaRPr lang="en-US" dirty="0"/>
          </a:p>
        </p:txBody>
      </p:sp>
      <p:sp>
        <p:nvSpPr>
          <p:cNvPr id="4" name="Местозаполнитель нижнего колонтитула 3">
            <a:extLst>
              <a:ext uri="{FF2B5EF4-FFF2-40B4-BE49-F238E27FC236}">
                <a16:creationId xmlns:a16="http://schemas.microsoft.com/office/drawing/2014/main" id="{FCCE4DE7-ED89-D264-F004-38F2DF4879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F7E8591-FF54-5A00-A703-95ABC16B78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7369B77-94AB-0344-9EBF-9DB9EE8D3A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97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Местозаполнитель даты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8F75F72-8950-AF4F-9381-1D26FB547EA1}" type="datetimeFigureOut">
              <a:rPr lang="en-US" smtClean="0"/>
              <a:t>9/21/2025</a:t>
            </a:fld>
            <a:endParaRPr lang="en-US" dirty="0"/>
          </a:p>
        </p:txBody>
      </p:sp>
      <p:sp>
        <p:nvSpPr>
          <p:cNvPr id="4" name="Местозаполнитель изображения слайда 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775476F-A808-1F46-A368-07984F6DA2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5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изображения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775476F-A808-1F46-A368-07984F6DA22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910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775476F-A808-1F46-A368-07984F6DA22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519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775476F-A808-1F46-A368-07984F6DA22E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374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изображения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775476F-A808-1F46-A368-07984F6DA22E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47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775476F-A808-1F46-A368-07984F6DA22E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006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изображения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775476F-A808-1F46-A368-07984F6DA22E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806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>
            <a:extLst>
              <a:ext uri="{FF2B5EF4-FFF2-40B4-BE49-F238E27FC236}">
                <a16:creationId xmlns:a16="http://schemas.microsoft.com/office/drawing/2014/main" id="{FD90036E-D78E-7995-BEF4-F64DA613C7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 rtlCol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  <a:noFill/>
        </p:spPr>
        <p:txBody>
          <a:bodyPr rtlCol="0" anchor="b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  <a:noFill/>
        </p:spPr>
        <p:txBody>
          <a:bodyPr rtlCol="0"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/>
              <a:t>Образец подзаголовка</a:t>
            </a:r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530352"/>
            <a:ext cx="5385816" cy="1810512"/>
          </a:xfrm>
        </p:spPr>
        <p:txBody>
          <a:bodyPr rtlCol="0" anchor="b">
            <a:normAutofit/>
          </a:bodyPr>
          <a:lstStyle>
            <a:lvl1pPr>
              <a:defRPr sz="4000"/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7" name="Замещающая рамка рисунка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5174458" cy="6858000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32" name="Объект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9048" y="2962656"/>
            <a:ext cx="5385816" cy="2706624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Clr>
                <a:srgbClr val="73292A"/>
              </a:buClr>
              <a:buNone/>
              <a:defRPr sz="2400"/>
            </a:lvl1pPr>
            <a:lvl2pPr marL="228600">
              <a:buClr>
                <a:srgbClr val="73292A"/>
              </a:buClr>
              <a:defRPr sz="2000"/>
            </a:lvl2pPr>
            <a:lvl3pPr marL="685800">
              <a:buClr>
                <a:srgbClr val="73292A"/>
              </a:buClr>
              <a:defRPr sz="1800"/>
            </a:lvl3pPr>
            <a:lvl4pPr marL="1143000">
              <a:buClr>
                <a:srgbClr val="73292A"/>
              </a:buClr>
              <a:defRPr sz="1600"/>
            </a:lvl4pPr>
            <a:lvl5pPr marL="1600200">
              <a:buClr>
                <a:srgbClr val="73292A"/>
              </a:buClr>
              <a:defRPr sz="16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4928" y="6356350"/>
            <a:ext cx="71628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CAF8C32-80F8-F614-8280-02F76781F238}"/>
              </a:ext>
            </a:extLst>
          </p:cNvPr>
          <p:cNvSpPr/>
          <p:nvPr userDrawn="1"/>
        </p:nvSpPr>
        <p:spPr>
          <a:xfrm>
            <a:off x="5174459" y="0"/>
            <a:ext cx="4571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3" name="Графический объект 2">
            <a:extLst>
              <a:ext uri="{FF2B5EF4-FFF2-40B4-BE49-F238E27FC236}">
                <a16:creationId xmlns:a16="http://schemas.microsoft.com/office/drawing/2014/main" id="{02CB607F-27CE-D613-F812-E70C738FA0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723"/>
          <a:stretch/>
        </p:blipFill>
        <p:spPr>
          <a:xfrm>
            <a:off x="9959711" y="738051"/>
            <a:ext cx="2232289" cy="5381892"/>
          </a:xfrm>
          <a:prstGeom prst="rect">
            <a:avLst/>
          </a:prstGeom>
        </p:spPr>
      </p:pic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A689F60-3D32-FD74-24A9-266643081E85}"/>
              </a:ext>
            </a:extLst>
          </p:cNvPr>
          <p:cNvCxnSpPr>
            <a:cxnSpLocks/>
          </p:cNvCxnSpPr>
          <p:nvPr userDrawn="1"/>
        </p:nvCxnSpPr>
        <p:spPr>
          <a:xfrm>
            <a:off x="6189979" y="2649682"/>
            <a:ext cx="332598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 descr="Изображение, содержащее текст&#10;&#10;Описание сгенерировано автоматически">
            <a:extLst>
              <a:ext uri="{FF2B5EF4-FFF2-40B4-BE49-F238E27FC236}">
                <a16:creationId xmlns:a16="http://schemas.microsoft.com/office/drawing/2014/main" id="{B827D708-B036-EE04-B213-EC3EAAE0681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9920" y="2509197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98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мещающая рамка рисунка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 rtlCol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912" y="2185416"/>
            <a:ext cx="9052560" cy="2487168"/>
          </a:xfrm>
          <a:noFill/>
        </p:spPr>
        <p:txBody>
          <a:bodyPr rtlCol="0"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Графический объект 5">
            <a:extLst>
              <a:ext uri="{FF2B5EF4-FFF2-40B4-BE49-F238E27FC236}">
                <a16:creationId xmlns:a16="http://schemas.microsoft.com/office/drawing/2014/main" id="{7F691F67-3A33-EA2C-967A-86934DA1D4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401" b="24659"/>
          <a:stretch/>
        </p:blipFill>
        <p:spPr>
          <a:xfrm>
            <a:off x="5856445" y="726334"/>
            <a:ext cx="1898043" cy="540533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722376"/>
            <a:ext cx="6419088" cy="2350008"/>
          </a:xfrm>
        </p:spPr>
        <p:txBody>
          <a:bodyPr rtlCol="0" anchor="b">
            <a:normAutofit/>
          </a:bodyPr>
          <a:lstStyle>
            <a:lvl1pPr algn="ctr">
              <a:defRPr sz="4400"/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F6B0D1AB-E9D6-841F-7178-F60F07AF3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3931920"/>
            <a:ext cx="6419088" cy="1389888"/>
          </a:xfrm>
        </p:spPr>
        <p:txBody>
          <a:bodyPr rtlCol="0"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/>
              <a:t>Образец подзаголовка</a:t>
            </a:r>
            <a:endParaRPr lang="ru"/>
          </a:p>
        </p:txBody>
      </p:sp>
      <p:sp>
        <p:nvSpPr>
          <p:cNvPr id="7" name="Замещающая рамка рисунка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54488" y="0"/>
            <a:ext cx="4434464" cy="6858000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DB41B1E5-0891-6540-C6C6-2E4CF929E2D5}"/>
              </a:ext>
            </a:extLst>
          </p:cNvPr>
          <p:cNvCxnSpPr>
            <a:cxnSpLocks/>
          </p:cNvCxnSpPr>
          <p:nvPr userDrawn="1"/>
        </p:nvCxnSpPr>
        <p:spPr>
          <a:xfrm>
            <a:off x="1679972" y="3432325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Рисунок 11" descr="Изображение, содержащее текст&#10;&#10;Описание сгенерировано автоматически">
            <a:extLst>
              <a:ext uri="{FF2B5EF4-FFF2-40B4-BE49-F238E27FC236}">
                <a16:creationId xmlns:a16="http://schemas.microsoft.com/office/drawing/2014/main" id="{2CA6CDBD-54C9-2154-A4D6-F432B3CF27F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3169" y="3291840"/>
            <a:ext cx="972078" cy="285381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7541814-983F-1B1C-1D5D-EBAC0D9BEB4C}"/>
              </a:ext>
            </a:extLst>
          </p:cNvPr>
          <p:cNvSpPr/>
          <p:nvPr userDrawn="1"/>
        </p:nvSpPr>
        <p:spPr>
          <a:xfrm>
            <a:off x="7711438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17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Графический объект 4">
            <a:extLst>
              <a:ext uri="{FF2B5EF4-FFF2-40B4-BE49-F238E27FC236}">
                <a16:creationId xmlns:a16="http://schemas.microsoft.com/office/drawing/2014/main" id="{7D338C08-B5A9-DA78-1FE4-12BEFEB61B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136" t="6121"/>
          <a:stretch/>
        </p:blipFill>
        <p:spPr>
          <a:xfrm rot="16200000" flipH="1" flipV="1">
            <a:off x="7528785" y="-1437953"/>
            <a:ext cx="3225262" cy="6101168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0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Графический объект 6">
            <a:extLst>
              <a:ext uri="{FF2B5EF4-FFF2-40B4-BE49-F238E27FC236}">
                <a16:creationId xmlns:a16="http://schemas.microsoft.com/office/drawing/2014/main" id="{230C4EDD-E959-BB97-7574-864A6EDFD3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602251" y="4944272"/>
            <a:ext cx="3848748" cy="191372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408176"/>
            <a:ext cx="3392424" cy="4014216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24144" y="1536192"/>
            <a:ext cx="5696712" cy="3758184"/>
          </a:xfrm>
        </p:spPr>
        <p:txBody>
          <a:bodyPr rtlCol="0"/>
          <a:lstStyle>
            <a:lvl1pPr>
              <a:spcAft>
                <a:spcPts val="600"/>
              </a:spcAft>
              <a:buClr>
                <a:schemeClr val="accent2"/>
              </a:buClr>
              <a:defRPr sz="22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600"/>
            </a:lvl4pPr>
            <a:lvl5pPr>
              <a:buClr>
                <a:schemeClr val="accent2"/>
              </a:buClr>
              <a:defRPr sz="14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724144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77048F4-9454-D035-3356-DD623DFCEE42}"/>
              </a:ext>
            </a:extLst>
          </p:cNvPr>
          <p:cNvSpPr/>
          <p:nvPr userDrawn="1"/>
        </p:nvSpPr>
        <p:spPr>
          <a:xfrm rot="5400000">
            <a:off x="1361771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420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 с подзаголовко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 rtlCol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2276856"/>
            <a:ext cx="9144000" cy="1508760"/>
          </a:xfrm>
          <a:noFill/>
        </p:spPr>
        <p:txBody>
          <a:bodyPr rtlCol="0"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841248"/>
          </a:xfrm>
          <a:noFill/>
        </p:spPr>
        <p:txBody>
          <a:bodyPr rtlCol="0" anchor="t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/>
              <a:t>Образец подзаголовка</a:t>
            </a:r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93911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элемента содержимого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9" name="Местозаполнитель содержимого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523744"/>
            <a:ext cx="4864608" cy="3694176"/>
          </a:xfrm>
        </p:spPr>
        <p:txBody>
          <a:bodyPr rtlCol="0"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11" name="Объект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84264" y="2523744"/>
            <a:ext cx="4864608" cy="3694176"/>
          </a:xfrm>
        </p:spPr>
        <p:txBody>
          <a:bodyPr rtlCol="0"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4" name="Местозаполнитель номера слайда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09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элемента содержимог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Графический объект 10">
            <a:extLst>
              <a:ext uri="{FF2B5EF4-FFF2-40B4-BE49-F238E27FC236}">
                <a16:creationId xmlns:a16="http://schemas.microsoft.com/office/drawing/2014/main" id="{B7F52C37-6A33-FD57-31EC-516F581DF1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7420" b="36176"/>
          <a:stretch/>
        </p:blipFill>
        <p:spPr>
          <a:xfrm>
            <a:off x="0" y="2510651"/>
            <a:ext cx="2841744" cy="434735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7397496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584" y="1408176"/>
            <a:ext cx="3392424" cy="4014216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9" name="Местозаполнитель содержимого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685800"/>
            <a:ext cx="5276088" cy="1563624"/>
          </a:xfrm>
        </p:spPr>
        <p:txBody>
          <a:bodyPr rtlCol="0">
            <a:noAutofit/>
          </a:bodyPr>
          <a:lstStyle>
            <a:lvl1pPr marL="457200" indent="-457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+mj-lt"/>
              <a:buAutoNum type="arabicPeriod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914400" indent="-457200">
              <a:buClr>
                <a:schemeClr val="accent2"/>
              </a:buClr>
              <a:buFont typeface="+mj-lt"/>
              <a:buAutoNum type="alphaLcPeriod"/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371600" indent="-457200">
              <a:buClr>
                <a:schemeClr val="accent2"/>
              </a:buClr>
              <a:buFont typeface="+mj-lt"/>
              <a:buAutoNum type="romanLcPeriod"/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714500" indent="-342900">
              <a:buClr>
                <a:schemeClr val="accent2"/>
              </a:buClr>
              <a:buFont typeface="+mj-lt"/>
              <a:buAutoNum type="arabicParenR"/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171700" indent="-342900">
              <a:buClr>
                <a:schemeClr val="accent2"/>
              </a:buClr>
              <a:buFont typeface="+mj-lt"/>
              <a:buAutoNum type="alphaLcParenR"/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10" name="Объект 8">
            <a:extLst>
              <a:ext uri="{FF2B5EF4-FFF2-40B4-BE49-F238E27FC236}">
                <a16:creationId xmlns:a16="http://schemas.microsoft.com/office/drawing/2014/main" id="{EC526101-2775-A309-0B4A-DB278C3974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2688" y="2697480"/>
            <a:ext cx="5276088" cy="3483864"/>
          </a:xfrm>
        </p:spPr>
        <p:txBody>
          <a:bodyPr rtlCol="0"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4" name="Местозаполнитель номера слайда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Графический объект 11">
            <a:extLst>
              <a:ext uri="{FF2B5EF4-FFF2-40B4-BE49-F238E27FC236}">
                <a16:creationId xmlns:a16="http://schemas.microsoft.com/office/drawing/2014/main" id="{45719EF3-43BC-5F74-7396-273F72ED3C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8001534" y="4944272"/>
            <a:ext cx="3848748" cy="1913728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37D205C-32E5-5A54-8D89-CB56198B06E5}"/>
              </a:ext>
            </a:extLst>
          </p:cNvPr>
          <p:cNvSpPr/>
          <p:nvPr userDrawn="1"/>
        </p:nvSpPr>
        <p:spPr>
          <a:xfrm rot="5400000">
            <a:off x="3949200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182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одержимое с изображ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Графический объект 11">
            <a:extLst>
              <a:ext uri="{FF2B5EF4-FFF2-40B4-BE49-F238E27FC236}">
                <a16:creationId xmlns:a16="http://schemas.microsoft.com/office/drawing/2014/main" id="{516D97AE-EB24-C3DA-21A1-E8EE4631AC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118" r="47395" b="22709"/>
          <a:stretch/>
        </p:blipFill>
        <p:spPr>
          <a:xfrm flipH="1">
            <a:off x="4448831" y="805912"/>
            <a:ext cx="1464735" cy="4961437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CBF43B9-3946-05E6-521F-EE4BB59B49D0}"/>
              </a:ext>
            </a:extLst>
          </p:cNvPr>
          <p:cNvSpPr/>
          <p:nvPr userDrawn="1"/>
        </p:nvSpPr>
        <p:spPr>
          <a:xfrm>
            <a:off x="4434840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14DEF57-E0D6-D7CA-5D3C-FC97EAB0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792" y="557784"/>
            <a:ext cx="6419088" cy="1929384"/>
          </a:xfrm>
        </p:spPr>
        <p:txBody>
          <a:bodyPr rtlCol="0" anchor="b">
            <a:normAutofit/>
          </a:bodyPr>
          <a:lstStyle>
            <a:lvl1pPr algn="ctr">
              <a:defRPr sz="4400"/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8" name="Замещающая рамка рисунка 6">
            <a:extLst>
              <a:ext uri="{FF2B5EF4-FFF2-40B4-BE49-F238E27FC236}">
                <a16:creationId xmlns:a16="http://schemas.microsoft.com/office/drawing/2014/main" id="{930B4666-31C5-1F2B-27D9-2A9F6EC970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434464" cy="6858000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93792" y="3328416"/>
            <a:ext cx="6419088" cy="2441448"/>
          </a:xfrm>
        </p:spPr>
        <p:txBody>
          <a:bodyPr rtlCol="0"/>
          <a:lstStyle>
            <a:lvl1pPr marL="0" indent="0" algn="ctr">
              <a:lnSpc>
                <a:spcPct val="90000"/>
              </a:lnSpc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algn="ctr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2pPr>
            <a:lvl3pPr algn="ctr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algn="ctr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algn="ctr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193792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89EEBF9-800C-88AE-FE83-60B5F47AFC14}"/>
              </a:ext>
            </a:extLst>
          </p:cNvPr>
          <p:cNvCxnSpPr>
            <a:cxnSpLocks/>
          </p:cNvCxnSpPr>
          <p:nvPr userDrawn="1"/>
        </p:nvCxnSpPr>
        <p:spPr>
          <a:xfrm>
            <a:off x="6174481" y="2843389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Изображение 13" descr="Изображение, содержащее текст&#10;&#10;Описание сгенерировано автоматически">
            <a:extLst>
              <a:ext uri="{FF2B5EF4-FFF2-40B4-BE49-F238E27FC236}">
                <a16:creationId xmlns:a16="http://schemas.microsoft.com/office/drawing/2014/main" id="{301D77B6-9ED1-094C-66A3-7D5AB0CDEA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4042" y="2702904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649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элемента содержимого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9" name="Местозаполнитель содержимого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770632"/>
            <a:ext cx="2487168" cy="3502152"/>
          </a:xfrm>
        </p:spPr>
        <p:txBody>
          <a:bodyPr lIns="91440" rIns="91440" rtlCol="0"/>
          <a:lstStyle>
            <a:lvl1pPr marL="0" indent="0"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11" name="Объект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85616" y="2770632"/>
            <a:ext cx="7571232" cy="3392424"/>
          </a:xfrm>
        </p:spPr>
        <p:txBody>
          <a:bodyPr rtlCol="0"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4" name="Местозаполнитель номера слайда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990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элемента содержимого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9" name="Местозаполнитель содержимого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432304"/>
            <a:ext cx="6163056" cy="3739896"/>
          </a:xfrm>
        </p:spPr>
        <p:txBody>
          <a:bodyPr lIns="91440" rIns="91440" rtlCol="0"/>
          <a:lstStyle>
            <a:lvl1pPr marL="228600" indent="-228600"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685800">
              <a:spcBef>
                <a:spcPts val="5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1430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6002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0574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11" name="Объект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4928" y="2441448"/>
            <a:ext cx="4169664" cy="3703320"/>
          </a:xfrm>
        </p:spPr>
        <p:txBody>
          <a:bodyPr rtlCol="0"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4" name="Местозаполнитель номера слайда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5" name="Графический объект 4">
            <a:extLst>
              <a:ext uri="{FF2B5EF4-FFF2-40B4-BE49-F238E27FC236}">
                <a16:creationId xmlns:a16="http://schemas.microsoft.com/office/drawing/2014/main" id="{1EB1C5A3-22FF-382D-3801-B6D9C4AC53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52051"/>
          <a:stretch/>
        </p:blipFill>
        <p:spPr>
          <a:xfrm>
            <a:off x="4629335" y="1815780"/>
            <a:ext cx="5586493" cy="504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767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одержимо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11" name="Местозаполнитель содержимого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770632"/>
            <a:ext cx="10515600" cy="3392424"/>
          </a:xfrm>
        </p:spPr>
        <p:txBody>
          <a:bodyPr rtlCol="0"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4" name="Местозаполнитель номера слайда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999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мещающая рамка рисунка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 rtlCol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632" y="822960"/>
            <a:ext cx="6327648" cy="2221992"/>
          </a:xfrm>
          <a:noFill/>
        </p:spPr>
        <p:txBody>
          <a:bodyPr rtlCol="0" anchor="b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632" y="3428999"/>
            <a:ext cx="6309360" cy="1703439"/>
          </a:xfrm>
          <a:noFill/>
        </p:spPr>
        <p:txBody>
          <a:bodyPr rtlCol="0" anchor="t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006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6140" y="6356350"/>
            <a:ext cx="784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pPr rtl="0"/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76" r:id="rId4"/>
    <p:sldLayoutId id="2147483678" r:id="rId5"/>
    <p:sldLayoutId id="2147483684" r:id="rId6"/>
    <p:sldLayoutId id="2147483677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nodejs.org/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microsoft.com/office/2007/relationships/hdphoto" Target="../media/hdphoto3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Замещающая рамка рисунка 4" descr="Букет цветов">
            <a:extLst>
              <a:ext uri="{FF2B5EF4-FFF2-40B4-BE49-F238E27FC236}">
                <a16:creationId xmlns:a16="http://schemas.microsoft.com/office/drawing/2014/main" id="{2E09DD34-43D4-3713-535D-7E9D95D3F4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F9772E4-10E9-13DE-8AE8-35BBB9DD1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</p:spPr>
        <p:txBody>
          <a:bodyPr rtlCol="0"/>
          <a:lstStyle/>
          <a:p>
            <a:pPr rtl="0"/>
            <a:r>
              <a:rPr lang="ru-RU" sz="4000" dirty="0"/>
              <a:t>Введение в </a:t>
            </a:r>
            <a:r>
              <a:rPr lang="ru-RU" sz="4000" dirty="0" err="1"/>
              <a:t>React</a:t>
            </a:r>
            <a:r>
              <a:rPr lang="ru-RU" sz="4000" dirty="0"/>
              <a:t>, SPA: что это, преимущества</a:t>
            </a:r>
            <a:endParaRPr lang="ru" sz="4000" dirty="0"/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F7C09E8F-C241-2F75-70EA-32EC69551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</p:spPr>
        <p:txBody>
          <a:bodyPr rtlCol="0"/>
          <a:lstStyle/>
          <a:p>
            <a:pPr rtl="0"/>
            <a:r>
              <a:rPr lang="en-US" dirty="0"/>
              <a:t>1-3 </a:t>
            </a:r>
            <a:r>
              <a:rPr lang="ru-RU" dirty="0"/>
              <a:t>лекции</a:t>
            </a:r>
            <a:endParaRPr lang="ru" dirty="0"/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9318DF20-A4C4-3800-A69E-4E11F5A11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15117" y="3822700"/>
            <a:ext cx="53213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абличка 12">
            <a:extLst>
              <a:ext uri="{FF2B5EF4-FFF2-40B4-BE49-F238E27FC236}">
                <a16:creationId xmlns:a16="http://schemas.microsoft.com/office/drawing/2014/main" id="{AC9EB422-5602-36FF-E543-5B0C70E56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4867" y="1269576"/>
            <a:ext cx="6781800" cy="4343824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14" name="Изображение 13">
            <a:extLst>
              <a:ext uri="{FF2B5EF4-FFF2-40B4-BE49-F238E27FC236}">
                <a16:creationId xmlns:a16="http://schemas.microsoft.com/office/drawing/2014/main" id="{A053B63A-99EB-DBC1-DE80-E5E5214EF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9728" y="3681876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59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530352"/>
            <a:ext cx="5385816" cy="1810512"/>
          </a:xfrm>
        </p:spPr>
        <p:txBody>
          <a:bodyPr rtlCol="0" anchor="b">
            <a:normAutofit/>
          </a:bodyPr>
          <a:lstStyle/>
          <a:p>
            <a:pPr rtl="0"/>
            <a:r>
              <a:rPr lang="ru-RU" dirty="0"/>
              <a:t>Что такое </a:t>
            </a:r>
            <a:r>
              <a:rPr lang="en-US" dirty="0"/>
              <a:t>React</a:t>
            </a:r>
            <a:endParaRPr lang="ru" dirty="0"/>
          </a:p>
        </p:txBody>
      </p:sp>
      <p:pic>
        <p:nvPicPr>
          <p:cNvPr id="12" name="Замещающая рамка рисунка 11" descr="Белые и розовые цветы крупным планом">
            <a:extLst>
              <a:ext uri="{FF2B5EF4-FFF2-40B4-BE49-F238E27FC236}">
                <a16:creationId xmlns:a16="http://schemas.microsoft.com/office/drawing/2014/main" id="{638025BA-3E49-3EFD-417E-955B4B95B2B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5174458" cy="6858000"/>
          </a:xfr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9048" y="2962656"/>
            <a:ext cx="5385816" cy="270662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just" rtl="0"/>
            <a:r>
              <a:rPr lang="ru-RU" dirty="0"/>
              <a:t>•	</a:t>
            </a:r>
            <a:r>
              <a:rPr lang="ru-RU" dirty="0" err="1"/>
              <a:t>React</a:t>
            </a:r>
            <a:r>
              <a:rPr lang="ru-RU" dirty="0"/>
              <a:t> — это библиотека JavaScript для построения пользовательских интерфейсов.</a:t>
            </a:r>
          </a:p>
          <a:p>
            <a:pPr algn="just" rtl="0"/>
            <a:r>
              <a:rPr lang="ru-RU" dirty="0"/>
              <a:t>•	Разработан в Facebook (</a:t>
            </a:r>
            <a:r>
              <a:rPr lang="ru-RU" dirty="0" err="1"/>
              <a:t>Meta</a:t>
            </a:r>
            <a:r>
              <a:rPr lang="ru-RU" dirty="0"/>
              <a:t>).</a:t>
            </a:r>
          </a:p>
          <a:p>
            <a:pPr algn="just" rtl="0"/>
            <a:r>
              <a:rPr lang="ru-RU" dirty="0"/>
              <a:t>•	Основная идея: разбивка интерфейса на компоненты, которые можно </a:t>
            </a:r>
            <a:r>
              <a:rPr lang="ru-RU" dirty="0" err="1"/>
              <a:t>переиспользовать</a:t>
            </a:r>
            <a:r>
              <a:rPr lang="ru-RU" dirty="0"/>
              <a:t>.</a:t>
            </a:r>
          </a:p>
        </p:txBody>
      </p:sp>
      <p:sp>
        <p:nvSpPr>
          <p:cNvPr id="5" name="Местозаполнитель номера слайда 4">
            <a:extLst>
              <a:ext uri="{FF2B5EF4-FFF2-40B4-BE49-F238E27FC236}">
                <a16:creationId xmlns:a16="http://schemas.microsoft.com/office/drawing/2014/main" id="{E902A7C2-1D63-EFD6-869B-2F167F966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599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Замещающая рамка рисунка 4" descr="Букет цветов">
            <a:extLst>
              <a:ext uri="{FF2B5EF4-FFF2-40B4-BE49-F238E27FC236}">
                <a16:creationId xmlns:a16="http://schemas.microsoft.com/office/drawing/2014/main" id="{D34D75C6-A35A-52D3-B03F-61494B8580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9C3427B2-C457-FC4C-BA04-44EF586F34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ru-RU" sz="4800" dirty="0">
                <a:solidFill>
                  <a:schemeClr val="bg1"/>
                </a:solidFill>
              </a:rPr>
              <a:t>Что такое </a:t>
            </a:r>
            <a:r>
              <a:rPr lang="en-US" sz="4800" dirty="0">
                <a:solidFill>
                  <a:schemeClr val="bg1"/>
                </a:solidFill>
              </a:rPr>
              <a:t>SPA (Single Page Application)</a:t>
            </a:r>
            <a:endParaRPr lang="en-US" dirty="0"/>
          </a:p>
        </p:txBody>
      </p:sp>
      <p:sp>
        <p:nvSpPr>
          <p:cNvPr id="4" name="Местозаполнитель нижнего колонтитула 3">
            <a:extLst>
              <a:ext uri="{FF2B5EF4-FFF2-40B4-BE49-F238E27FC236}">
                <a16:creationId xmlns:a16="http://schemas.microsoft.com/office/drawing/2014/main" id="{009C8D8B-2E15-875B-08A8-28C5524EF69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94F408-30BE-5DC2-806D-A217DB0281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7775" y="6356350"/>
            <a:ext cx="784225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3</a:t>
            </a:fld>
            <a:endParaRPr lang="en-US" dirty="0"/>
          </a:p>
        </p:txBody>
      </p:sp>
      <p:sp>
        <p:nvSpPr>
          <p:cNvPr id="11" name="Табличка 10">
            <a:extLst>
              <a:ext uri="{FF2B5EF4-FFF2-40B4-BE49-F238E27FC236}">
                <a16:creationId xmlns:a16="http://schemas.microsoft.com/office/drawing/2014/main" id="{95E724B3-E95F-E150-E7F9-1C3F634EF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32854" y="1782305"/>
            <a:ext cx="9546956" cy="3270142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BFEC193-4F90-6CAE-6259-21C8B6A84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561" y="4925255"/>
            <a:ext cx="972078" cy="28538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F119B25-42CB-340B-ACB4-22178DF12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5608561" y="1624116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481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722376"/>
            <a:ext cx="6419088" cy="2350008"/>
          </a:xfrm>
          <a:noFill/>
        </p:spPr>
        <p:txBody>
          <a:bodyPr rtlCol="0">
            <a:noAutofit/>
          </a:bodyPr>
          <a:lstStyle/>
          <a:p>
            <a:pPr rtl="0"/>
            <a:r>
              <a:rPr lang="ru" dirty="0"/>
              <a:t>Немного деталей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3931920"/>
            <a:ext cx="6419088" cy="1389888"/>
          </a:xfrm>
          <a:noFill/>
        </p:spPr>
        <p:txBody>
          <a:bodyPr rtlCol="0">
            <a:normAutofit fontScale="85000" lnSpcReduction="20000"/>
          </a:bodyPr>
          <a:lstStyle/>
          <a:p>
            <a:pPr rtl="0"/>
            <a:r>
              <a:rPr lang="ru-RU" dirty="0"/>
              <a:t>SPA — одностраничное приложение.</a:t>
            </a:r>
          </a:p>
          <a:p>
            <a:pPr rtl="0"/>
            <a:r>
              <a:rPr lang="ru-RU" dirty="0"/>
              <a:t>Вся логика загружается один раз, при старте.</a:t>
            </a:r>
          </a:p>
          <a:p>
            <a:pPr rtl="0"/>
            <a:r>
              <a:rPr lang="ru-RU" dirty="0"/>
              <a:t>При переходах страница не перезагружается целиком, меняется только нужный контент.</a:t>
            </a:r>
          </a:p>
        </p:txBody>
      </p:sp>
      <p:pic>
        <p:nvPicPr>
          <p:cNvPr id="9" name="Замещающая рамка рисунка 5" descr="Купа оранжевых цветов">
            <a:extLst>
              <a:ext uri="{FF2B5EF4-FFF2-40B4-BE49-F238E27FC236}">
                <a16:creationId xmlns:a16="http://schemas.microsoft.com/office/drawing/2014/main" id="{B0E612D5-D631-0C31-BE9E-28739243329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501"/>
                    </a14:imgEffect>
                    <a14:imgEffect>
                      <a14:saturation sat="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4488" y="0"/>
            <a:ext cx="4434464" cy="6858000"/>
          </a:xfrm>
          <a:solidFill>
            <a:schemeClr val="bg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541873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408176"/>
            <a:ext cx="3392424" cy="4014216"/>
          </a:xfrm>
          <a:noFill/>
        </p:spPr>
        <p:txBody>
          <a:bodyPr rtlCol="0">
            <a:normAutofit/>
          </a:bodyPr>
          <a:lstStyle/>
          <a:p>
            <a:pPr rtl="0"/>
            <a:r>
              <a:rPr lang="ru-RU" sz="3600" dirty="0"/>
              <a:t>Преимущества </a:t>
            </a:r>
            <a:r>
              <a:rPr lang="en-US" sz="3600" dirty="0"/>
              <a:t>React </a:t>
            </a:r>
            <a:r>
              <a:rPr lang="ru-RU" sz="3600" dirty="0"/>
              <a:t>и </a:t>
            </a:r>
            <a:r>
              <a:rPr lang="en-US" sz="3600" dirty="0"/>
              <a:t>SPA</a:t>
            </a:r>
            <a:endParaRPr lang="ru" sz="3600" dirty="0"/>
          </a:p>
        </p:txBody>
      </p:sp>
      <p:sp>
        <p:nvSpPr>
          <p:cNvPr id="3" name="Местозаполнитель содержимого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24144" y="1536192"/>
            <a:ext cx="5696712" cy="3758184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ru-RU" sz="2000" dirty="0"/>
              <a:t>Высокая скорость работы — обновляется только часть страницы.</a:t>
            </a:r>
          </a:p>
          <a:p>
            <a:pPr rtl="0"/>
            <a:r>
              <a:rPr lang="ru-RU" sz="2000" dirty="0"/>
              <a:t>Плавная навигация без перезагрузки.</a:t>
            </a:r>
          </a:p>
          <a:p>
            <a:pPr rtl="0"/>
            <a:r>
              <a:rPr lang="ru-RU" sz="2000" dirty="0"/>
              <a:t>Компонентный подход — код проще поддерживать и </a:t>
            </a:r>
            <a:r>
              <a:rPr lang="ru-RU" sz="2000" dirty="0" err="1"/>
              <a:t>переиспользовать</a:t>
            </a:r>
            <a:r>
              <a:rPr lang="ru-RU" sz="2000" dirty="0"/>
              <a:t>.</a:t>
            </a:r>
          </a:p>
          <a:p>
            <a:pPr rtl="0"/>
            <a:r>
              <a:rPr lang="ru-RU" sz="2000" dirty="0"/>
              <a:t>Большое сообщество и огромное количество готовых библиотек.</a:t>
            </a:r>
          </a:p>
          <a:p>
            <a:pPr rtl="0"/>
            <a:r>
              <a:rPr lang="ru-RU" sz="2000" dirty="0"/>
              <a:t>Кроссплатформенность — можно использовать в вебе, мобильных приложениях (</a:t>
            </a:r>
            <a:r>
              <a:rPr lang="ru-RU" sz="2000" dirty="0" err="1"/>
              <a:t>React</a:t>
            </a:r>
            <a:r>
              <a:rPr lang="ru-RU" sz="2000" dirty="0"/>
              <a:t> </a:t>
            </a:r>
            <a:r>
              <a:rPr lang="ru-RU" sz="2000" dirty="0" err="1"/>
              <a:t>Native</a:t>
            </a:r>
            <a:r>
              <a:rPr lang="ru-RU" sz="2000" dirty="0"/>
              <a:t>).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398EC13-CC66-14BE-C305-D90EB840C4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424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Замещающая рамка рисунка 4" descr="Букет цветов">
            <a:extLst>
              <a:ext uri="{FF2B5EF4-FFF2-40B4-BE49-F238E27FC236}">
                <a16:creationId xmlns:a16="http://schemas.microsoft.com/office/drawing/2014/main" id="{82C0F469-9EA6-0942-67ED-8D4851C74BF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09000"/>
                    </a14:imgEffect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DF951822-544C-11FC-36D3-F53CE376B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2276855"/>
            <a:ext cx="9144000" cy="2602875"/>
          </a:xfrm>
        </p:spPr>
        <p:txBody>
          <a:bodyPr rtlCol="0"/>
          <a:lstStyle/>
          <a:p>
            <a:pPr rtl="0"/>
            <a:r>
              <a:rPr lang="ru-RU" dirty="0"/>
              <a:t>Установка необходимых инструментов</a:t>
            </a:r>
            <a:endParaRPr lang="ru" dirty="0"/>
          </a:p>
        </p:txBody>
      </p:sp>
      <p:sp>
        <p:nvSpPr>
          <p:cNvPr id="12" name="Табличка 11">
            <a:extLst>
              <a:ext uri="{FF2B5EF4-FFF2-40B4-BE49-F238E27FC236}">
                <a16:creationId xmlns:a16="http://schemas.microsoft.com/office/drawing/2014/main" id="{F6C1C551-67AC-029A-A3FE-5521A1CD6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32854" y="1782305"/>
            <a:ext cx="9546956" cy="3270142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327F1579-738B-D9DF-6A9B-98AB5F50D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33949" y="3605726"/>
            <a:ext cx="53213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Изображение 13">
            <a:extLst>
              <a:ext uri="{FF2B5EF4-FFF2-40B4-BE49-F238E27FC236}">
                <a16:creationId xmlns:a16="http://schemas.microsoft.com/office/drawing/2014/main" id="{E96736DE-5AE2-4B04-69F4-474224408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560" y="3464902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177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2B8270AC-601F-D537-3460-3FE09CC6A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 rtlCol="0"/>
          <a:lstStyle/>
          <a:p>
            <a:pPr rtl="0"/>
            <a:r>
              <a:rPr lang="ru" dirty="0"/>
              <a:t>Всё, что пригодится в работе!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4593D07-3857-8A04-606E-258D1E9908D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523744"/>
            <a:ext cx="4864608" cy="3694176"/>
          </a:xfrm>
        </p:spPr>
        <p:txBody>
          <a:bodyPr rtlCol="0"/>
          <a:lstStyle/>
          <a:p>
            <a:pPr marL="342900" indent="-342900" algn="just">
              <a:lnSpc>
                <a:spcPct val="150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ru-RU" sz="1800" dirty="0">
                <a:solidFill>
                  <a:srgbClr val="000000"/>
                </a:solidFill>
                <a:effectLst/>
                <a:latin typeface="Gill Sans Nova Light (Основной текст)"/>
                <a:ea typeface="Aptos"/>
                <a:cs typeface="Symbol" panose="05050102010706020507" pitchFamily="18" charset="2"/>
              </a:rPr>
              <a:t>Скачайте и установите </a:t>
            </a:r>
            <a:r>
              <a:rPr lang="en-US" sz="1800" dirty="0">
                <a:solidFill>
                  <a:srgbClr val="000000"/>
                </a:solidFill>
                <a:effectLst/>
                <a:latin typeface="Gill Sans Nova Light (Основной текст)"/>
                <a:ea typeface="Aptos"/>
                <a:cs typeface="Symbol" panose="05050102010706020507" pitchFamily="18" charset="2"/>
              </a:rPr>
              <a:t>Node</a:t>
            </a:r>
            <a:r>
              <a:rPr lang="ru-RU" sz="1800" dirty="0">
                <a:solidFill>
                  <a:srgbClr val="000000"/>
                </a:solidFill>
                <a:effectLst/>
                <a:latin typeface="Gill Sans Nova Light (Основной текст)"/>
                <a:ea typeface="Aptos"/>
                <a:cs typeface="Symbol" panose="05050102010706020507" pitchFamily="18" charset="2"/>
              </a:rPr>
              <a:t>.</a:t>
            </a:r>
            <a:r>
              <a:rPr lang="en-US" sz="1800" dirty="0" err="1">
                <a:solidFill>
                  <a:srgbClr val="000000"/>
                </a:solidFill>
                <a:effectLst/>
                <a:latin typeface="Gill Sans Nova Light (Основной текст)"/>
                <a:ea typeface="Aptos"/>
                <a:cs typeface="Symbol" panose="05050102010706020507" pitchFamily="18" charset="2"/>
              </a:rPr>
              <a:t>js</a:t>
            </a:r>
            <a:r>
              <a:rPr lang="ru-RU" sz="1800" dirty="0">
                <a:solidFill>
                  <a:srgbClr val="000000"/>
                </a:solidFill>
                <a:effectLst/>
                <a:latin typeface="Gill Sans Nova Light (Основной текст)"/>
                <a:ea typeface="Aptos"/>
                <a:cs typeface="Symbol" panose="05050102010706020507" pitchFamily="18" charset="2"/>
              </a:rPr>
              <a:t> (</a:t>
            </a:r>
            <a:r>
              <a:rPr lang="en-US" sz="1800" dirty="0">
                <a:solidFill>
                  <a:srgbClr val="000000"/>
                </a:solidFill>
                <a:effectLst/>
                <a:latin typeface="Gill Sans Nova Light (Основной текст)"/>
                <a:ea typeface="Aptos"/>
                <a:cs typeface="Symbol" panose="05050102010706020507" pitchFamily="18" charset="2"/>
              </a:rPr>
              <a:t>LTS</a:t>
            </a:r>
            <a:r>
              <a:rPr lang="ru-RU" sz="1800" dirty="0">
                <a:solidFill>
                  <a:srgbClr val="000000"/>
                </a:solidFill>
                <a:effectLst/>
                <a:latin typeface="Gill Sans Nova Light (Основной текст)"/>
                <a:ea typeface="Aptos"/>
                <a:cs typeface="Symbol" panose="05050102010706020507" pitchFamily="18" charset="2"/>
              </a:rPr>
              <a:t>) → </a:t>
            </a:r>
            <a:r>
              <a:rPr lang="en-US" sz="1800" dirty="0">
                <a:solidFill>
                  <a:srgbClr val="000000"/>
                </a:solidFill>
                <a:effectLst/>
                <a:latin typeface="Gill Sans Nova Light (Основной текст)"/>
                <a:ea typeface="Aptos"/>
                <a:cs typeface="Symbol" panose="05050102010706020507" pitchFamily="18" charset="2"/>
                <a:hlinkClick r:id="rId2"/>
              </a:rPr>
              <a:t>https</a:t>
            </a:r>
            <a:r>
              <a:rPr lang="ru-RU" sz="1800" dirty="0">
                <a:solidFill>
                  <a:srgbClr val="000000"/>
                </a:solidFill>
                <a:effectLst/>
                <a:latin typeface="Gill Sans Nova Light (Основной текст)"/>
                <a:ea typeface="Aptos"/>
                <a:cs typeface="Symbol" panose="05050102010706020507" pitchFamily="18" charset="2"/>
                <a:hlinkClick r:id="rId2"/>
              </a:rPr>
              <a:t>://</a:t>
            </a:r>
            <a:r>
              <a:rPr lang="en-US" sz="1800" dirty="0" err="1">
                <a:solidFill>
                  <a:srgbClr val="000000"/>
                </a:solidFill>
                <a:effectLst/>
                <a:latin typeface="Gill Sans Nova Light (Основной текст)"/>
                <a:ea typeface="Aptos"/>
                <a:cs typeface="Symbol" panose="05050102010706020507" pitchFamily="18" charset="2"/>
                <a:hlinkClick r:id="rId2"/>
              </a:rPr>
              <a:t>nodejs</a:t>
            </a:r>
            <a:r>
              <a:rPr lang="ru-RU" sz="1800" dirty="0">
                <a:solidFill>
                  <a:srgbClr val="000000"/>
                </a:solidFill>
                <a:effectLst/>
                <a:latin typeface="Gill Sans Nova Light (Основной текст)"/>
                <a:ea typeface="Aptos"/>
                <a:cs typeface="Symbol" panose="05050102010706020507" pitchFamily="18" charset="2"/>
                <a:hlinkClick r:id="rId2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Gill Sans Nova Light (Основной текст)"/>
                <a:ea typeface="Aptos"/>
                <a:cs typeface="Symbol" panose="05050102010706020507" pitchFamily="18" charset="2"/>
                <a:hlinkClick r:id="rId2"/>
              </a:rPr>
              <a:t>org</a:t>
            </a:r>
            <a:r>
              <a:rPr lang="ru-RU" sz="1800" dirty="0">
                <a:solidFill>
                  <a:srgbClr val="000000"/>
                </a:solidFill>
                <a:effectLst/>
                <a:latin typeface="Gill Sans Nova Light (Основной текст)"/>
                <a:ea typeface="Aptos"/>
                <a:cs typeface="Symbol" panose="05050102010706020507" pitchFamily="18" charset="2"/>
                <a:hlinkClick r:id="rId2"/>
              </a:rPr>
              <a:t>/</a:t>
            </a:r>
            <a:r>
              <a:rPr lang="ru-RU" sz="1800" dirty="0">
                <a:solidFill>
                  <a:srgbClr val="000000"/>
                </a:solidFill>
                <a:effectLst/>
                <a:latin typeface="Gill Sans Nova Light (Основной текст)"/>
                <a:ea typeface="Aptos"/>
                <a:cs typeface="Symbol" panose="05050102010706020507" pitchFamily="18" charset="2"/>
              </a:rPr>
              <a:t>. Вместе с ним ставится </a:t>
            </a:r>
            <a:r>
              <a:rPr lang="en-US" sz="1800" dirty="0" err="1">
                <a:solidFill>
                  <a:srgbClr val="000000"/>
                </a:solidFill>
                <a:effectLst/>
                <a:latin typeface="Gill Sans Nova Light (Основной текст)"/>
                <a:ea typeface="Aptos"/>
                <a:cs typeface="Symbol" panose="05050102010706020507" pitchFamily="18" charset="2"/>
              </a:rPr>
              <a:t>npm</a:t>
            </a:r>
            <a:r>
              <a:rPr lang="ru-RU" sz="1800" dirty="0">
                <a:solidFill>
                  <a:srgbClr val="000000"/>
                </a:solidFill>
                <a:effectLst/>
                <a:latin typeface="Gill Sans Nova Light (Основной текст)"/>
                <a:ea typeface="Aptos"/>
                <a:cs typeface="Symbol" panose="05050102010706020507" pitchFamily="18" charset="2"/>
              </a:rPr>
              <a:t> (пакетный менеджер).</a:t>
            </a:r>
            <a:r>
              <a:rPr lang="ru-RU" sz="1800" dirty="0">
                <a:solidFill>
                  <a:srgbClr val="000000"/>
                </a:solidFill>
                <a:latin typeface="Gill Sans Nova Light (Основной текст)"/>
                <a:ea typeface="Aptos"/>
                <a:cs typeface="Symbol" panose="05050102010706020507" pitchFamily="18" charset="2"/>
              </a:rPr>
              <a:t> </a:t>
            </a:r>
          </a:p>
          <a:p>
            <a:pPr marL="342900" indent="-342900" algn="just">
              <a:lnSpc>
                <a:spcPct val="150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solidFill>
                  <a:srgbClr val="000000"/>
                </a:solidFill>
                <a:effectLst/>
                <a:latin typeface="Gill Sans Nova Light (Основной текст)"/>
                <a:ea typeface="Aptos"/>
                <a:cs typeface="Symbol" panose="05050102010706020507" pitchFamily="18" charset="2"/>
              </a:rPr>
              <a:t>Проверка</a:t>
            </a:r>
            <a:r>
              <a:rPr lang="en-US" sz="1800" dirty="0">
                <a:solidFill>
                  <a:srgbClr val="000000"/>
                </a:solidFill>
                <a:effectLst/>
                <a:latin typeface="Gill Sans Nova Light (Основной текст)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Gill Sans Nova Light (Основной текст)"/>
                <a:ea typeface="Aptos"/>
                <a:cs typeface="Symbol" panose="05050102010706020507" pitchFamily="18" charset="2"/>
              </a:rPr>
              <a:t>установки</a:t>
            </a:r>
            <a:r>
              <a:rPr lang="en-US" sz="1800" dirty="0">
                <a:solidFill>
                  <a:srgbClr val="000000"/>
                </a:solidFill>
                <a:latin typeface="Gill Sans Nova Light (Основной текст)"/>
                <a:ea typeface="Aptos"/>
                <a:cs typeface="Symbol" panose="05050102010706020507" pitchFamily="18" charset="2"/>
              </a:rPr>
              <a:t> </a:t>
            </a:r>
            <a:r>
              <a:rPr lang="ru-RU" sz="1800" dirty="0">
                <a:solidFill>
                  <a:srgbClr val="000000"/>
                </a:solidFill>
                <a:latin typeface="Gill Sans Nova Light (Основной текст)"/>
                <a:ea typeface="Aptos"/>
                <a:cs typeface="Symbol" panose="05050102010706020507" pitchFamily="18" charset="2"/>
              </a:rPr>
              <a:t>в терминале </a:t>
            </a:r>
            <a:r>
              <a:rPr lang="en-US" sz="1800" dirty="0">
                <a:solidFill>
                  <a:srgbClr val="000000"/>
                </a:solidFill>
                <a:latin typeface="Gill Sans Nova Light (Основной текст)"/>
                <a:ea typeface="Aptos"/>
                <a:cs typeface="Symbol" panose="05050102010706020507" pitchFamily="18" charset="2"/>
              </a:rPr>
              <a:t>Visual Studio</a:t>
            </a:r>
            <a:r>
              <a:rPr lang="ru-RU" sz="1800" dirty="0">
                <a:solidFill>
                  <a:srgbClr val="000000"/>
                </a:solidFill>
                <a:latin typeface="Gill Sans Nova Light (Основной текст)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Gill Sans Nova Light (Основной текст)"/>
                <a:ea typeface="Aptos"/>
                <a:cs typeface="Symbol" panose="05050102010706020507" pitchFamily="18" charset="2"/>
              </a:rPr>
              <a:t>Code</a:t>
            </a:r>
            <a:r>
              <a:rPr lang="ru-RU" sz="1800" dirty="0">
                <a:solidFill>
                  <a:srgbClr val="000000"/>
                </a:solidFill>
                <a:latin typeface="Gill Sans Nova Light (Основной текст)"/>
                <a:ea typeface="Aptos"/>
                <a:cs typeface="Symbol" panose="05050102010706020507" pitchFamily="18" charset="2"/>
              </a:rPr>
              <a:t>  (или в терминале):</a:t>
            </a:r>
            <a:endParaRPr lang="ru-RU" sz="1800" dirty="0">
              <a:solidFill>
                <a:srgbClr val="000000"/>
              </a:solidFill>
              <a:effectLst/>
              <a:latin typeface="Gill Sans Nova Light (Основной текст)"/>
              <a:ea typeface="Aptos"/>
              <a:cs typeface="Symbol" panose="05050102010706020507" pitchFamily="18" charset="2"/>
            </a:endParaRPr>
          </a:p>
          <a:p>
            <a:pPr marL="342900" indent="-342900" algn="just">
              <a:lnSpc>
                <a:spcPct val="150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endParaRPr lang="ru-RU" sz="1800" dirty="0">
              <a:effectLst/>
              <a:latin typeface="Gill Sans Nova Light (Основной текст)"/>
              <a:ea typeface="Aptos"/>
              <a:cs typeface="Symbol" panose="05050102010706020507" pitchFamily="18" charset="2"/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D5BB6B2-ED6A-BB7C-2FF7-FB659089012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84264" y="2523744"/>
            <a:ext cx="4864608" cy="3694176"/>
          </a:xfrm>
        </p:spPr>
        <p:txBody>
          <a:bodyPr rtlCol="0"/>
          <a:lstStyle/>
          <a:p>
            <a:r>
              <a:rPr lang="en-US" dirty="0"/>
              <a:t>IDE (</a:t>
            </a:r>
            <a:r>
              <a:rPr lang="en-US" dirty="0" err="1"/>
              <a:t>среда</a:t>
            </a:r>
            <a:r>
              <a:rPr lang="en-US" dirty="0"/>
              <a:t> </a:t>
            </a:r>
            <a:r>
              <a:rPr lang="en-US" dirty="0" err="1"/>
              <a:t>разработки</a:t>
            </a:r>
            <a:r>
              <a:rPr lang="en-US" dirty="0"/>
              <a:t>)</a:t>
            </a:r>
            <a:r>
              <a:rPr lang="ru-RU" dirty="0"/>
              <a:t>:</a:t>
            </a:r>
          </a:p>
          <a:p>
            <a:pPr rtl="0"/>
            <a:r>
              <a:rPr lang="ru-RU" dirty="0"/>
              <a:t>•	Рекомендуется </a:t>
            </a:r>
            <a:r>
              <a:rPr lang="en-US" dirty="0"/>
              <a:t>Visual Studio Code (VS Code) → https://code.visualstudio.com/</a:t>
            </a:r>
          </a:p>
          <a:p>
            <a:pPr rtl="0"/>
            <a:r>
              <a:rPr lang="en-US" dirty="0"/>
              <a:t>•	</a:t>
            </a:r>
            <a:r>
              <a:rPr lang="ru-RU" dirty="0"/>
              <a:t>Полезные плагины:</a:t>
            </a:r>
          </a:p>
          <a:p>
            <a:pPr rtl="0"/>
            <a:r>
              <a:rPr lang="en-US" dirty="0"/>
              <a:t>o	ES7+ React Snippets (</a:t>
            </a:r>
            <a:r>
              <a:rPr lang="ru-RU" dirty="0"/>
              <a:t>шаблоны </a:t>
            </a:r>
            <a:r>
              <a:rPr lang="en-US" dirty="0"/>
              <a:t>React-</a:t>
            </a:r>
            <a:r>
              <a:rPr lang="ru-RU" dirty="0"/>
              <a:t>компонентов)</a:t>
            </a:r>
          </a:p>
          <a:p>
            <a:pPr rtl="0"/>
            <a:r>
              <a:rPr lang="en-US" dirty="0"/>
              <a:t>o	Prettier (</a:t>
            </a:r>
            <a:r>
              <a:rPr lang="ru-RU" dirty="0" err="1"/>
              <a:t>автоформатирование</a:t>
            </a:r>
            <a:r>
              <a:rPr lang="ru-RU" dirty="0"/>
              <a:t>)</a:t>
            </a:r>
          </a:p>
          <a:p>
            <a:pPr rtl="0"/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46466F-9F24-C34E-BBA6-2CB9430552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7</a:t>
            </a:fld>
            <a:endParaRPr lang="en-US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316E0407-1076-4B9D-91AD-C3586EBA667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115891" y="4918075"/>
            <a:ext cx="306705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343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9443C06-A530-329A-9ECC-3E0484827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584" y="1408176"/>
            <a:ext cx="3392424" cy="4014216"/>
          </a:xfrm>
        </p:spPr>
        <p:txBody>
          <a:bodyPr rtlCol="0"/>
          <a:lstStyle/>
          <a:p>
            <a:pPr rtl="0"/>
            <a:r>
              <a:rPr lang="ru-RU" dirty="0"/>
              <a:t>Создание </a:t>
            </a:r>
            <a:r>
              <a:rPr lang="en-US" dirty="0"/>
              <a:t>React-</a:t>
            </a:r>
            <a:r>
              <a:rPr lang="ru-RU" dirty="0"/>
              <a:t>проекта (через </a:t>
            </a:r>
            <a:r>
              <a:rPr lang="en-US" dirty="0" err="1"/>
              <a:t>Vite</a:t>
            </a:r>
            <a:r>
              <a:rPr lang="en-US" dirty="0"/>
              <a:t>)</a:t>
            </a:r>
            <a:endParaRPr lang="ru" dirty="0"/>
          </a:p>
        </p:txBody>
      </p:sp>
      <p:sp>
        <p:nvSpPr>
          <p:cNvPr id="10" name="Местозаполнитель содержимого 9">
            <a:extLst>
              <a:ext uri="{FF2B5EF4-FFF2-40B4-BE49-F238E27FC236}">
                <a16:creationId xmlns:a16="http://schemas.microsoft.com/office/drawing/2014/main" id="{ED45388B-F6C6-3BAE-BC81-AD233BEC858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685800"/>
            <a:ext cx="5276088" cy="1563624"/>
          </a:xfrm>
        </p:spPr>
        <p:txBody>
          <a:bodyPr rtlCol="0"/>
          <a:lstStyle/>
          <a:p>
            <a:pPr marL="0" indent="0" rtl="0">
              <a:buNone/>
            </a:pPr>
            <a:r>
              <a:rPr lang="ru-RU" sz="2000" dirty="0"/>
              <a:t>В терминале (</a:t>
            </a:r>
            <a:r>
              <a:rPr lang="en-US" sz="2000" dirty="0" err="1"/>
              <a:t>cmd</a:t>
            </a:r>
            <a:r>
              <a:rPr lang="en-US" sz="2000" dirty="0"/>
              <a:t> </a:t>
            </a:r>
            <a:r>
              <a:rPr lang="ru-RU" sz="2000" dirty="0"/>
              <a:t>или </a:t>
            </a:r>
            <a:r>
              <a:rPr lang="en-US" sz="2000" dirty="0"/>
              <a:t>VS Code → Command Prompt) </a:t>
            </a:r>
            <a:r>
              <a:rPr lang="ru-RU" sz="2000" dirty="0"/>
              <a:t>запустите:</a:t>
            </a:r>
          </a:p>
          <a:p>
            <a:pPr marL="0" indent="0" rtl="0">
              <a:buNone/>
            </a:pPr>
            <a:r>
              <a:rPr lang="en-US" sz="2000" b="1" dirty="0" err="1"/>
              <a:t>npm</a:t>
            </a:r>
            <a:r>
              <a:rPr lang="en-US" sz="2000" b="1" dirty="0"/>
              <a:t> create </a:t>
            </a:r>
            <a:r>
              <a:rPr lang="en-US" sz="2000" b="1" dirty="0" err="1"/>
              <a:t>vite@latest</a:t>
            </a:r>
            <a:r>
              <a:rPr lang="en-US" sz="2000" b="1" dirty="0"/>
              <a:t> my-app</a:t>
            </a:r>
            <a:endParaRPr lang="ru-RU" sz="2000" b="1" dirty="0"/>
          </a:p>
          <a:p>
            <a:pPr marL="0" indent="0" rtl="0">
              <a:buNone/>
            </a:pPr>
            <a:r>
              <a:rPr lang="en-US" sz="2000" dirty="0"/>
              <a:t>o	</a:t>
            </a:r>
            <a:r>
              <a:rPr lang="ru-RU" sz="2000" dirty="0"/>
              <a:t>выберите </a:t>
            </a:r>
            <a:r>
              <a:rPr lang="en-US" sz="2000" dirty="0"/>
              <a:t>React</a:t>
            </a:r>
          </a:p>
          <a:p>
            <a:pPr marL="0" indent="0" rtl="0">
              <a:buNone/>
            </a:pPr>
            <a:r>
              <a:rPr lang="en-US" sz="2000" dirty="0"/>
              <a:t>o	</a:t>
            </a:r>
            <a:r>
              <a:rPr lang="ru-RU" sz="2000" dirty="0"/>
              <a:t>выберите </a:t>
            </a:r>
            <a:r>
              <a:rPr lang="en-US" sz="2000" dirty="0"/>
              <a:t>JavaScript</a:t>
            </a:r>
            <a:r>
              <a:rPr lang="ru-RU" sz="2000" dirty="0"/>
              <a:t>.</a:t>
            </a:r>
          </a:p>
          <a:p>
            <a:pPr marL="0" indent="0" rtl="0">
              <a:buNone/>
            </a:pPr>
            <a:endParaRPr lang="en-US" sz="2000" b="1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302C321-51E3-42FB-272E-92F2DCF5A9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8</a:t>
            </a:fld>
            <a:endParaRPr lang="en-US" dirty="0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C5D158A5-C823-41D2-A1DC-C8B7A281AB6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5270" y="2914865"/>
            <a:ext cx="4809392" cy="3257335"/>
          </a:xfrm>
          <a:prstGeom prst="rect">
            <a:avLst/>
          </a:prstGeom>
        </p:spPr>
      </p:pic>
      <p:pic>
        <p:nvPicPr>
          <p:cNvPr id="12" name="Picture 1">
            <a:extLst>
              <a:ext uri="{FF2B5EF4-FFF2-40B4-BE49-F238E27FC236}">
                <a16:creationId xmlns:a16="http://schemas.microsoft.com/office/drawing/2014/main" id="{939F49A1-38AC-4ECB-BD44-6F2FF65B349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830882" y="4225925"/>
            <a:ext cx="3457575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396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2057FFDB-DFEC-7174-F23F-20C423A03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792" y="557784"/>
            <a:ext cx="6419088" cy="1929384"/>
          </a:xfrm>
        </p:spPr>
        <p:txBody>
          <a:bodyPr rtlCol="0"/>
          <a:lstStyle/>
          <a:p>
            <a:pPr rtl="0"/>
            <a:r>
              <a:rPr lang="ru" dirty="0"/>
              <a:t>А как теперь перейти в проект?</a:t>
            </a:r>
          </a:p>
        </p:txBody>
      </p:sp>
      <p:pic>
        <p:nvPicPr>
          <p:cNvPr id="8" name="Замещающая рамка рисунка 7" descr="Желтые цветы крупным планом">
            <a:extLst>
              <a:ext uri="{FF2B5EF4-FFF2-40B4-BE49-F238E27FC236}">
                <a16:creationId xmlns:a16="http://schemas.microsoft.com/office/drawing/2014/main" id="{A30CECCA-DB43-3EBC-1ED9-4E7CD74EE3E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434464" cy="6858000"/>
          </a:xfrm>
        </p:spPr>
      </p:pic>
      <p:sp>
        <p:nvSpPr>
          <p:cNvPr id="4" name="Местозаполнитель содержимого 3">
            <a:extLst>
              <a:ext uri="{FF2B5EF4-FFF2-40B4-BE49-F238E27FC236}">
                <a16:creationId xmlns:a16="http://schemas.microsoft.com/office/drawing/2014/main" id="{D6F3EE20-53E0-0C62-809D-211B05B880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93792" y="3328416"/>
            <a:ext cx="6419088" cy="2441448"/>
          </a:xfrm>
        </p:spPr>
        <p:txBody>
          <a:bodyPr rtlCol="0">
            <a:normAutofit/>
          </a:bodyPr>
          <a:lstStyle/>
          <a:p>
            <a:pPr algn="just" rtl="0"/>
            <a:r>
              <a:rPr lang="ru-RU" sz="1600" dirty="0"/>
              <a:t>Выполните команду </a:t>
            </a:r>
            <a:r>
              <a:rPr lang="en-US" sz="1600" dirty="0"/>
              <a:t> cd </a:t>
            </a:r>
            <a:r>
              <a:rPr lang="ru-RU" sz="1600" dirty="0"/>
              <a:t>НАЗВАНИЕ_ПРОЕКТА. Например, </a:t>
            </a:r>
            <a:r>
              <a:rPr lang="en-US" sz="1600" dirty="0"/>
              <a:t>	cd my-app</a:t>
            </a:r>
            <a:r>
              <a:rPr lang="ru-RU" sz="1600" dirty="0"/>
              <a:t>.</a:t>
            </a:r>
          </a:p>
          <a:p>
            <a:pPr algn="just" rtl="0"/>
            <a:r>
              <a:rPr lang="ru-RU" sz="1600" dirty="0"/>
              <a:t>Установите зависимости: </a:t>
            </a:r>
            <a:r>
              <a:rPr lang="en-US" sz="1600" dirty="0" err="1"/>
              <a:t>npm</a:t>
            </a:r>
            <a:r>
              <a:rPr lang="en-US" sz="1600" dirty="0"/>
              <a:t> install.</a:t>
            </a:r>
          </a:p>
          <a:p>
            <a:pPr algn="just" rtl="0"/>
            <a:endParaRPr lang="en-US" sz="1600" dirty="0"/>
          </a:p>
          <a:p>
            <a:pPr algn="just" rtl="0"/>
            <a:endParaRPr lang="en-US" sz="1600" dirty="0"/>
          </a:p>
          <a:p>
            <a:pPr algn="just" rtl="0"/>
            <a:endParaRPr lang="en-US" sz="1600" dirty="0"/>
          </a:p>
          <a:p>
            <a:pPr algn="just" rtl="0"/>
            <a:endParaRPr lang="en-US" sz="1600" dirty="0"/>
          </a:p>
          <a:p>
            <a:pPr algn="just" rtl="0"/>
            <a:endParaRPr lang="ru-RU" sz="1600" dirty="0"/>
          </a:p>
          <a:p>
            <a:pPr marL="457200" indent="-457200" rtl="0">
              <a:buAutoNum type="arabicParenR"/>
            </a:pPr>
            <a:endParaRPr lang="en-US" dirty="0"/>
          </a:p>
        </p:txBody>
      </p:sp>
      <p:sp>
        <p:nvSpPr>
          <p:cNvPr id="3" name="Местозаполнитель номера слайда 2">
            <a:extLst>
              <a:ext uri="{FF2B5EF4-FFF2-40B4-BE49-F238E27FC236}">
                <a16:creationId xmlns:a16="http://schemas.microsoft.com/office/drawing/2014/main" id="{B8F090ED-AB65-F860-A6D0-5F6E60E175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9</a:t>
            </a:fld>
            <a:endParaRPr lang="en-US" dirty="0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5FFB9914-81E6-4A23-9C2A-6CD7E15C66E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193792" y="4411877"/>
            <a:ext cx="4726281" cy="1722589"/>
          </a:xfrm>
          <a:prstGeom prst="rect">
            <a:avLst/>
          </a:prstGeom>
        </p:spPr>
      </p:pic>
      <p:sp>
        <p:nvSpPr>
          <p:cNvPr id="9" name="Местозаполнитель содержимого 3">
            <a:extLst>
              <a:ext uri="{FF2B5EF4-FFF2-40B4-BE49-F238E27FC236}">
                <a16:creationId xmlns:a16="http://schemas.microsoft.com/office/drawing/2014/main" id="{0FC9FD02-96CE-4D75-92E6-6B3035A48F87}"/>
              </a:ext>
            </a:extLst>
          </p:cNvPr>
          <p:cNvSpPr txBox="1">
            <a:spLocks/>
          </p:cNvSpPr>
          <p:nvPr/>
        </p:nvSpPr>
        <p:spPr>
          <a:xfrm>
            <a:off x="5193792" y="6216161"/>
            <a:ext cx="6316512" cy="505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2400" kern="1200">
                <a:solidFill>
                  <a:schemeClr val="tx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1600" dirty="0"/>
              <a:t>Запустите проект: </a:t>
            </a:r>
            <a:r>
              <a:rPr lang="en-US" sz="1600" dirty="0" err="1"/>
              <a:t>npm</a:t>
            </a:r>
            <a:r>
              <a:rPr lang="en-US" sz="1600" dirty="0"/>
              <a:t> run dev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28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EEBFBF-F8B0-D44E-B6BF-4A0429AC3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 rtlCol="0"/>
          <a:lstStyle/>
          <a:p>
            <a:pPr rtl="0"/>
            <a:r>
              <a:rPr lang="ru" dirty="0"/>
              <a:t>Запуск проекта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AD44121-A8E9-49A3-B086-E9F57817889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5508" y="2770632"/>
            <a:ext cx="3452504" cy="3502152"/>
          </a:xfrm>
        </p:spPr>
        <p:txBody>
          <a:bodyPr rtlCol="0">
            <a:normAutofit/>
          </a:bodyPr>
          <a:lstStyle/>
          <a:p>
            <a:pPr rtl="0"/>
            <a:r>
              <a:rPr lang="ru-RU" dirty="0"/>
              <a:t>В терминале появится ссылка (например http://localhost:5173/) — открываете её в браузере.</a:t>
            </a:r>
            <a:endParaRPr lang="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C69194-7927-A259-0C43-EE59A46035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10</a:t>
            </a:fld>
            <a:endParaRPr lang="en-US" dirty="0"/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A6C516D0-255A-465E-A134-FF914DB02FB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2501" y="4521708"/>
            <a:ext cx="4839335" cy="1819275"/>
          </a:xfrm>
          <a:prstGeom prst="rect">
            <a:avLst/>
          </a:prstGeom>
        </p:spPr>
      </p:pic>
      <p:pic>
        <p:nvPicPr>
          <p:cNvPr id="12" name="Picture 1">
            <a:extLst>
              <a:ext uri="{FF2B5EF4-FFF2-40B4-BE49-F238E27FC236}">
                <a16:creationId xmlns:a16="http://schemas.microsoft.com/office/drawing/2014/main" id="{0EAE374D-1B8C-4C98-A570-E4241C145CDA}"/>
              </a:ext>
            </a:extLst>
          </p:cNvPr>
          <p:cNvPicPr/>
          <p:nvPr/>
        </p:nvPicPr>
        <p:blipFill rotWithShape="1">
          <a:blip r:embed="rId3"/>
          <a:srcRect r="13081"/>
          <a:stretch/>
        </p:blipFill>
        <p:spPr>
          <a:xfrm>
            <a:off x="5298829" y="2548817"/>
            <a:ext cx="6893171" cy="394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190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B3246B-8AB7-A0C9-C6DD-5D9F49D5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 rtlCol="0"/>
          <a:lstStyle/>
          <a:p>
            <a:pPr rtl="0"/>
            <a:r>
              <a:rPr lang="ru" dirty="0"/>
              <a:t>Структура проекта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20DCAFD-6C4D-D08A-CF94-0DA099CE4B5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432304"/>
            <a:ext cx="6163056" cy="3739896"/>
          </a:xfrm>
        </p:spPr>
        <p:txBody>
          <a:bodyPr rtlCol="0">
            <a:normAutofit fontScale="92500" lnSpcReduction="20000"/>
          </a:bodyPr>
          <a:lstStyle/>
          <a:p>
            <a:pPr rtl="0"/>
            <a:r>
              <a:rPr lang="en-US" dirty="0" err="1"/>
              <a:t>node_modules</a:t>
            </a:r>
            <a:r>
              <a:rPr lang="en-US" dirty="0"/>
              <a:t>/ - </a:t>
            </a:r>
            <a:r>
              <a:rPr lang="ru-RU" dirty="0"/>
              <a:t>зависимости проекта</a:t>
            </a:r>
          </a:p>
          <a:p>
            <a:pPr rtl="0"/>
            <a:r>
              <a:rPr lang="en-US" dirty="0"/>
              <a:t>public/ - </a:t>
            </a:r>
            <a:r>
              <a:rPr lang="ru-RU" dirty="0"/>
              <a:t>статические файлы (иконки, шрифты)</a:t>
            </a:r>
          </a:p>
          <a:p>
            <a:pPr rtl="0"/>
            <a:r>
              <a:rPr lang="en-US" dirty="0" err="1"/>
              <a:t>src</a:t>
            </a:r>
            <a:r>
              <a:rPr lang="en-US" dirty="0"/>
              <a:t>/ - </a:t>
            </a:r>
            <a:r>
              <a:rPr lang="ru-RU" dirty="0"/>
              <a:t>исходный код приложения (компоненты, стили)</a:t>
            </a:r>
          </a:p>
          <a:p>
            <a:pPr rtl="0"/>
            <a:r>
              <a:rPr lang="ru-RU" dirty="0"/>
              <a:t>.</a:t>
            </a:r>
            <a:r>
              <a:rPr lang="en-US" dirty="0" err="1"/>
              <a:t>gitignore</a:t>
            </a:r>
            <a:r>
              <a:rPr lang="en-US" dirty="0"/>
              <a:t> - </a:t>
            </a:r>
            <a:r>
              <a:rPr lang="ru-RU" dirty="0"/>
              <a:t>исключения для </a:t>
            </a:r>
            <a:r>
              <a:rPr lang="en-US" dirty="0"/>
              <a:t>Git</a:t>
            </a:r>
          </a:p>
          <a:p>
            <a:pPr rtl="0"/>
            <a:r>
              <a:rPr lang="en-US" dirty="0"/>
              <a:t>eslint.config.js - </a:t>
            </a:r>
            <a:r>
              <a:rPr lang="ru-RU" dirty="0"/>
              <a:t>настройки линтера</a:t>
            </a:r>
          </a:p>
          <a:p>
            <a:pPr rtl="0"/>
            <a:r>
              <a:rPr lang="en-US" dirty="0"/>
              <a:t>index.html - </a:t>
            </a:r>
            <a:r>
              <a:rPr lang="ru-RU" dirty="0"/>
              <a:t>главная </a:t>
            </a:r>
            <a:r>
              <a:rPr lang="en-US" dirty="0"/>
              <a:t>HTML </a:t>
            </a:r>
            <a:r>
              <a:rPr lang="ru-RU" dirty="0"/>
              <a:t>страница</a:t>
            </a:r>
          </a:p>
          <a:p>
            <a:pPr rtl="0"/>
            <a:r>
              <a:rPr lang="en-US" dirty="0" err="1"/>
              <a:t>package.json</a:t>
            </a:r>
            <a:r>
              <a:rPr lang="en-US" dirty="0"/>
              <a:t> - </a:t>
            </a:r>
            <a:r>
              <a:rPr lang="ru-RU" dirty="0"/>
              <a:t>зависимости и скрипты проекта</a:t>
            </a:r>
          </a:p>
          <a:p>
            <a:pPr rtl="0"/>
            <a:r>
              <a:rPr lang="en-US" dirty="0"/>
              <a:t>vite.config.js - </a:t>
            </a:r>
            <a:r>
              <a:rPr lang="ru-RU" dirty="0"/>
              <a:t>конфигурация </a:t>
            </a:r>
            <a:r>
              <a:rPr lang="en-US" dirty="0" err="1"/>
              <a:t>Vite</a:t>
            </a:r>
            <a:endParaRPr lang="en-US" dirty="0"/>
          </a:p>
          <a:p>
            <a:pPr rtl="0"/>
            <a:r>
              <a:rPr lang="en-US" dirty="0"/>
              <a:t>README.md - </a:t>
            </a:r>
            <a:r>
              <a:rPr lang="ru-RU" dirty="0"/>
              <a:t>документация проекта</a:t>
            </a:r>
            <a:endParaRPr lang="en-US" dirty="0"/>
          </a:p>
        </p:txBody>
      </p:sp>
      <p:sp>
        <p:nvSpPr>
          <p:cNvPr id="6" name="Местозаполнитель содержимого 5">
            <a:extLst>
              <a:ext uri="{FF2B5EF4-FFF2-40B4-BE49-F238E27FC236}">
                <a16:creationId xmlns:a16="http://schemas.microsoft.com/office/drawing/2014/main" id="{B0538762-AEBF-8FD9-03AC-305879D2DC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4928" y="2441448"/>
            <a:ext cx="4169664" cy="3703320"/>
          </a:xfrm>
        </p:spPr>
        <p:txBody>
          <a:bodyPr rtlCol="0"/>
          <a:lstStyle/>
          <a:p>
            <a:pPr rtl="0"/>
            <a:r>
              <a:rPr lang="ru-RU" dirty="0" err="1"/>
              <a:t>Vite</a:t>
            </a:r>
            <a:r>
              <a:rPr lang="ru-RU" dirty="0"/>
              <a:t> — инструмент сборки для </a:t>
            </a:r>
            <a:r>
              <a:rPr lang="ru-RU" dirty="0" err="1"/>
              <a:t>фронтенд</a:t>
            </a:r>
            <a:r>
              <a:rPr lang="ru-RU" dirty="0"/>
              <a:t>-разработки, разработанный создателем Vue.js. </a:t>
            </a:r>
          </a:p>
          <a:p>
            <a:pPr rtl="0"/>
            <a:endParaRPr lang="ru-RU" dirty="0"/>
          </a:p>
          <a:p>
            <a:pPr rtl="0"/>
            <a:r>
              <a:rPr lang="ru-RU" b="1" dirty="0"/>
              <a:t>Файл </a:t>
            </a:r>
            <a:r>
              <a:rPr lang="ru-RU" b="1" dirty="0" err="1"/>
              <a:t>src</a:t>
            </a:r>
            <a:r>
              <a:rPr lang="ru-RU" b="1" dirty="0"/>
              <a:t>/</a:t>
            </a:r>
            <a:r>
              <a:rPr lang="ru-RU" b="1" dirty="0" err="1"/>
              <a:t>App.jsx</a:t>
            </a:r>
            <a:r>
              <a:rPr lang="ru-RU" b="1" dirty="0"/>
              <a:t> — главный компонент.</a:t>
            </a:r>
            <a:endParaRPr lang="en-US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451A59-0D86-B758-5926-53062622A5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481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FE0DBD-0B2D-6832-A30D-1A703185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" dirty="0">
                <a:solidFill>
                  <a:schemeClr val="bg1"/>
                </a:solidFill>
              </a:rPr>
              <a:t>Пример простого компонента: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F5138A-B125-D716-1DF1-A12D0FBDFA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12</a:t>
            </a:fld>
            <a:endParaRPr lang="en-US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B3043A4A-D5E0-4B1F-910D-750A187775D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08031" y="1569548"/>
            <a:ext cx="6049107" cy="515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775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B3246B-8AB7-A0C9-C6DD-5D9F49D5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 rtlCol="0"/>
          <a:lstStyle/>
          <a:p>
            <a:pPr rtl="0"/>
            <a:r>
              <a:rPr lang="en-US" dirty="0"/>
              <a:t>JSX: </a:t>
            </a:r>
            <a:r>
              <a:rPr lang="ru-RU" dirty="0"/>
              <a:t>синтаксис, выражения, комментарии</a:t>
            </a:r>
            <a:endParaRPr lang="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20DCAFD-6C4D-D08A-CF94-0DA099CE4B5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432304"/>
            <a:ext cx="6163056" cy="3739896"/>
          </a:xfrm>
        </p:spPr>
        <p:txBody>
          <a:bodyPr rtlCol="0">
            <a:normAutofit/>
          </a:bodyPr>
          <a:lstStyle/>
          <a:p>
            <a:pPr rtl="0"/>
            <a:r>
              <a:rPr lang="ru-RU" sz="3600" dirty="0"/>
              <a:t>JSX (JavaScript XML) — синтаксис, который позволяет писать HTML-подобный код внутри JavaScript.</a:t>
            </a:r>
          </a:p>
          <a:p>
            <a:pPr rtl="0"/>
            <a:r>
              <a:rPr lang="ru-RU" sz="3600" dirty="0"/>
              <a:t>Внутри </a:t>
            </a:r>
            <a:r>
              <a:rPr lang="ru-RU" sz="3600" dirty="0" err="1"/>
              <a:t>React</a:t>
            </a:r>
            <a:r>
              <a:rPr lang="ru-RU" sz="3600" dirty="0"/>
              <a:t>-компонентов мы используем JSX для описания интерфейса.</a:t>
            </a:r>
          </a:p>
        </p:txBody>
      </p:sp>
      <p:sp>
        <p:nvSpPr>
          <p:cNvPr id="6" name="Местозаполнитель содержимого 5">
            <a:extLst>
              <a:ext uri="{FF2B5EF4-FFF2-40B4-BE49-F238E27FC236}">
                <a16:creationId xmlns:a16="http://schemas.microsoft.com/office/drawing/2014/main" id="{B0538762-AEBF-8FD9-03AC-305879D2DC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4928" y="2441448"/>
            <a:ext cx="4169664" cy="3703320"/>
          </a:xfrm>
        </p:spPr>
        <p:txBody>
          <a:bodyPr rtlCol="0">
            <a:normAutofit/>
          </a:bodyPr>
          <a:lstStyle/>
          <a:p>
            <a:pPr rtl="0"/>
            <a:r>
              <a:rPr lang="ru-RU" sz="3600" dirty="0"/>
              <a:t>Правила:</a:t>
            </a:r>
          </a:p>
          <a:p>
            <a:pPr marL="457200" indent="-457200" rtl="0">
              <a:buAutoNum type="arabicParenR"/>
            </a:pPr>
            <a:r>
              <a:rPr lang="ru-RU" sz="3600" dirty="0"/>
              <a:t>Один корневой элемент.</a:t>
            </a:r>
          </a:p>
          <a:p>
            <a:pPr marL="457200" indent="-457200" rtl="0">
              <a:buAutoNum type="arabicParenR"/>
            </a:pPr>
            <a:r>
              <a:rPr lang="ru-RU" sz="3600" dirty="0"/>
              <a:t>Атрибуты пишутся в </a:t>
            </a:r>
            <a:r>
              <a:rPr lang="en-US" sz="3600" dirty="0"/>
              <a:t>camelCase</a:t>
            </a:r>
            <a:r>
              <a:rPr lang="ru-RU" sz="3600" dirty="0"/>
              <a:t>.</a:t>
            </a:r>
          </a:p>
          <a:p>
            <a:pPr rtl="0"/>
            <a:endParaRPr lang="ru-RU" sz="3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451A59-0D86-B758-5926-53062622A5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966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FE0DBD-0B2D-6832-A30D-1A7031851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477" y="747345"/>
            <a:ext cx="4364736" cy="993531"/>
          </a:xfrm>
        </p:spPr>
        <p:txBody>
          <a:bodyPr rtlCol="0">
            <a:normAutofit fontScale="90000"/>
          </a:bodyPr>
          <a:lstStyle/>
          <a:p>
            <a:pPr rtl="0"/>
            <a:r>
              <a:rPr lang="ru" dirty="0">
                <a:solidFill>
                  <a:schemeClr val="bg1"/>
                </a:solidFill>
              </a:rPr>
              <a:t>Один корневой элемент: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F5138A-B125-D716-1DF1-A12D0FBDFA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14</a:t>
            </a:fld>
            <a:endParaRPr lang="en-US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97A0241-4093-4C33-A01B-C6FD56ED4C43}"/>
              </a:ext>
            </a:extLst>
          </p:cNvPr>
          <p:cNvSpPr txBox="1">
            <a:spLocks/>
          </p:cNvSpPr>
          <p:nvPr/>
        </p:nvSpPr>
        <p:spPr>
          <a:xfrm>
            <a:off x="7136423" y="747344"/>
            <a:ext cx="4364736" cy="993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camelCase:</a:t>
            </a: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5EBEE1B7-7239-46B2-8BD0-4E2272749E1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7392" y="2493719"/>
            <a:ext cx="4712677" cy="2210166"/>
          </a:xfrm>
          <a:prstGeom prst="rect">
            <a:avLst/>
          </a:prstGeom>
        </p:spPr>
      </p:pic>
      <p:pic>
        <p:nvPicPr>
          <p:cNvPr id="7" name="Picture 1">
            <a:extLst>
              <a:ext uri="{FF2B5EF4-FFF2-40B4-BE49-F238E27FC236}">
                <a16:creationId xmlns:a16="http://schemas.microsoft.com/office/drawing/2014/main" id="{AF5B51C4-457F-460E-B2E5-6AD0103F34D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073162" y="2266315"/>
            <a:ext cx="7018141" cy="352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871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2057FFDB-DFEC-7174-F23F-20C423A03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792" y="557784"/>
            <a:ext cx="6419088" cy="884154"/>
          </a:xfrm>
        </p:spPr>
        <p:txBody>
          <a:bodyPr rtlCol="0">
            <a:normAutofit fontScale="90000"/>
          </a:bodyPr>
          <a:lstStyle/>
          <a:p>
            <a:pPr rtl="0"/>
            <a:r>
              <a:rPr lang="ru-RU" dirty="0"/>
              <a:t>Встраивание выражений</a:t>
            </a:r>
            <a:endParaRPr lang="ru" dirty="0"/>
          </a:p>
        </p:txBody>
      </p:sp>
      <p:pic>
        <p:nvPicPr>
          <p:cNvPr id="8" name="Замещающая рамка рисунка 7" descr="Желтые цветы крупным планом">
            <a:extLst>
              <a:ext uri="{FF2B5EF4-FFF2-40B4-BE49-F238E27FC236}">
                <a16:creationId xmlns:a16="http://schemas.microsoft.com/office/drawing/2014/main" id="{A30CECCA-DB43-3EBC-1ED9-4E7CD74EE3E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434464" cy="6858000"/>
          </a:xfrm>
        </p:spPr>
      </p:pic>
      <p:sp>
        <p:nvSpPr>
          <p:cNvPr id="4" name="Местозаполнитель содержимого 3">
            <a:extLst>
              <a:ext uri="{FF2B5EF4-FFF2-40B4-BE49-F238E27FC236}">
                <a16:creationId xmlns:a16="http://schemas.microsoft.com/office/drawing/2014/main" id="{D6F3EE20-53E0-0C62-809D-211B05B880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93792" y="1523633"/>
            <a:ext cx="6419088" cy="922490"/>
          </a:xfrm>
        </p:spPr>
        <p:txBody>
          <a:bodyPr rtlCol="0">
            <a:normAutofit/>
          </a:bodyPr>
          <a:lstStyle/>
          <a:p>
            <a:pPr rtl="0"/>
            <a:r>
              <a:rPr lang="ru-RU" dirty="0"/>
              <a:t>Внутри JSX можно писать JS-выражения в фигурных скобках {}</a:t>
            </a:r>
            <a:endParaRPr lang="en-US" dirty="0"/>
          </a:p>
        </p:txBody>
      </p:sp>
      <p:sp>
        <p:nvSpPr>
          <p:cNvPr id="3" name="Местозаполнитель номера слайда 2">
            <a:extLst>
              <a:ext uri="{FF2B5EF4-FFF2-40B4-BE49-F238E27FC236}">
                <a16:creationId xmlns:a16="http://schemas.microsoft.com/office/drawing/2014/main" id="{B8F090ED-AB65-F860-A6D0-5F6E60E175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15</a:t>
            </a:fld>
            <a:endParaRPr lang="en-US" dirty="0"/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E013B4DA-515A-4DB0-8CB5-F6201BE5FCA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945966" y="2330376"/>
            <a:ext cx="6715565" cy="402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668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2057FFDB-DFEC-7174-F23F-20C423A03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792" y="557784"/>
            <a:ext cx="6419088" cy="884154"/>
          </a:xfrm>
        </p:spPr>
        <p:txBody>
          <a:bodyPr rtlCol="0">
            <a:normAutofit fontScale="90000"/>
          </a:bodyPr>
          <a:lstStyle/>
          <a:p>
            <a:pPr rtl="0"/>
            <a:r>
              <a:rPr lang="ru-RU" dirty="0"/>
              <a:t>Встраивание выражений</a:t>
            </a:r>
            <a:endParaRPr lang="ru" dirty="0"/>
          </a:p>
        </p:txBody>
      </p:sp>
      <p:pic>
        <p:nvPicPr>
          <p:cNvPr id="8" name="Замещающая рамка рисунка 7" descr="Желтые цветы крупным планом">
            <a:extLst>
              <a:ext uri="{FF2B5EF4-FFF2-40B4-BE49-F238E27FC236}">
                <a16:creationId xmlns:a16="http://schemas.microsoft.com/office/drawing/2014/main" id="{A30CECCA-DB43-3EBC-1ED9-4E7CD74EE3E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434464" cy="6858000"/>
          </a:xfrm>
        </p:spPr>
      </p:pic>
      <p:sp>
        <p:nvSpPr>
          <p:cNvPr id="4" name="Местозаполнитель содержимого 3">
            <a:extLst>
              <a:ext uri="{FF2B5EF4-FFF2-40B4-BE49-F238E27FC236}">
                <a16:creationId xmlns:a16="http://schemas.microsoft.com/office/drawing/2014/main" id="{D6F3EE20-53E0-0C62-809D-211B05B880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93792" y="1523633"/>
            <a:ext cx="6419088" cy="922490"/>
          </a:xfrm>
        </p:spPr>
        <p:txBody>
          <a:bodyPr rtlCol="0">
            <a:normAutofit/>
          </a:bodyPr>
          <a:lstStyle/>
          <a:p>
            <a:pPr rtl="0"/>
            <a:r>
              <a:rPr lang="ru-RU" dirty="0"/>
              <a:t>Внутри JSX можно писать JS-выражения в фигурных скобках {}</a:t>
            </a:r>
            <a:endParaRPr lang="en-US" dirty="0"/>
          </a:p>
        </p:txBody>
      </p:sp>
      <p:sp>
        <p:nvSpPr>
          <p:cNvPr id="3" name="Местозаполнитель номера слайда 2">
            <a:extLst>
              <a:ext uri="{FF2B5EF4-FFF2-40B4-BE49-F238E27FC236}">
                <a16:creationId xmlns:a16="http://schemas.microsoft.com/office/drawing/2014/main" id="{B8F090ED-AB65-F860-A6D0-5F6E60E175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16</a:t>
            </a:fld>
            <a:endParaRPr lang="en-US" dirty="0"/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E013B4DA-515A-4DB0-8CB5-F6201BE5FCA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945966" y="2330376"/>
            <a:ext cx="6715565" cy="402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443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722376"/>
            <a:ext cx="6419088" cy="930578"/>
          </a:xfrm>
          <a:noFill/>
        </p:spPr>
        <p:txBody>
          <a:bodyPr rtlCol="0">
            <a:noAutofit/>
          </a:bodyPr>
          <a:lstStyle/>
          <a:p>
            <a:pPr rtl="0"/>
            <a:r>
              <a:rPr lang="ru-RU" dirty="0"/>
              <a:t> Комментарии в </a:t>
            </a:r>
            <a:r>
              <a:rPr lang="en-US" dirty="0"/>
              <a:t>JSX</a:t>
            </a:r>
            <a:endParaRPr lang="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324" y="1909689"/>
            <a:ext cx="6419088" cy="1389888"/>
          </a:xfrm>
          <a:noFill/>
        </p:spPr>
        <p:txBody>
          <a:bodyPr rtlCol="0">
            <a:normAutofit/>
          </a:bodyPr>
          <a:lstStyle/>
          <a:p>
            <a:pPr rtl="0"/>
            <a:r>
              <a:rPr lang="ru-RU" dirty="0"/>
              <a:t>Используются фигурные скобки и синтаксис JS-комментариев.</a:t>
            </a:r>
          </a:p>
        </p:txBody>
      </p:sp>
      <p:pic>
        <p:nvPicPr>
          <p:cNvPr id="9" name="Замещающая рамка рисунка 5" descr="Купа оранжевых цветов">
            <a:extLst>
              <a:ext uri="{FF2B5EF4-FFF2-40B4-BE49-F238E27FC236}">
                <a16:creationId xmlns:a16="http://schemas.microsoft.com/office/drawing/2014/main" id="{B0E612D5-D631-0C31-BE9E-28739243329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501"/>
                    </a14:imgEffect>
                    <a14:imgEffect>
                      <a14:saturation sat="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4488" y="0"/>
            <a:ext cx="4434464" cy="6858000"/>
          </a:xfrm>
          <a:solidFill>
            <a:schemeClr val="bg1">
              <a:lumMod val="95000"/>
            </a:schemeClr>
          </a:solidFill>
        </p:spPr>
      </p:pic>
      <p:pic>
        <p:nvPicPr>
          <p:cNvPr id="5" name="Picture 1">
            <a:extLst>
              <a:ext uri="{FF2B5EF4-FFF2-40B4-BE49-F238E27FC236}">
                <a16:creationId xmlns:a16="http://schemas.microsoft.com/office/drawing/2014/main" id="{FE891974-6CDD-457F-A9C5-CAB7241233E4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1792" y="3828872"/>
            <a:ext cx="6341716" cy="270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739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Замещающая рамка рисунка 4" descr="Букет цветов">
            <a:extLst>
              <a:ext uri="{FF2B5EF4-FFF2-40B4-BE49-F238E27FC236}">
                <a16:creationId xmlns:a16="http://schemas.microsoft.com/office/drawing/2014/main" id="{2E09DD34-43D4-3713-535D-7E9D95D3F4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F9772E4-10E9-13DE-8AE8-35BBB9DD1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</p:spPr>
        <p:txBody>
          <a:bodyPr rtlCol="0"/>
          <a:lstStyle/>
          <a:p>
            <a:pPr rtl="0"/>
            <a:r>
              <a:rPr lang="ru-RU" sz="4000" dirty="0"/>
              <a:t>Функциональные компоненты</a:t>
            </a:r>
            <a:endParaRPr lang="ru" sz="4000" dirty="0"/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F7C09E8F-C241-2F75-70EA-32EC69551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</p:spPr>
        <p:txBody>
          <a:bodyPr rtlCol="0"/>
          <a:lstStyle/>
          <a:p>
            <a:pPr rtl="0"/>
            <a:r>
              <a:rPr lang="ru-RU" dirty="0"/>
              <a:t>4</a:t>
            </a:r>
            <a:r>
              <a:rPr lang="en-US" dirty="0"/>
              <a:t> </a:t>
            </a:r>
            <a:r>
              <a:rPr lang="ru-RU" dirty="0"/>
              <a:t>лекция</a:t>
            </a:r>
            <a:endParaRPr lang="ru" dirty="0"/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9318DF20-A4C4-3800-A69E-4E11F5A11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15117" y="3822700"/>
            <a:ext cx="53213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абличка 12">
            <a:extLst>
              <a:ext uri="{FF2B5EF4-FFF2-40B4-BE49-F238E27FC236}">
                <a16:creationId xmlns:a16="http://schemas.microsoft.com/office/drawing/2014/main" id="{AC9EB422-5602-36FF-E543-5B0C70E56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4867" y="1269576"/>
            <a:ext cx="6781800" cy="4343824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14" name="Изображение 13">
            <a:extLst>
              <a:ext uri="{FF2B5EF4-FFF2-40B4-BE49-F238E27FC236}">
                <a16:creationId xmlns:a16="http://schemas.microsoft.com/office/drawing/2014/main" id="{A053B63A-99EB-DBC1-DE80-E5E5214EF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9728" y="3681876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706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530352"/>
            <a:ext cx="5385816" cy="1810512"/>
          </a:xfrm>
        </p:spPr>
        <p:txBody>
          <a:bodyPr rtlCol="0" anchor="b">
            <a:normAutofit/>
          </a:bodyPr>
          <a:lstStyle/>
          <a:p>
            <a:pPr rtl="0"/>
            <a:r>
              <a:rPr lang="ru-RU" dirty="0"/>
              <a:t>Что такое функциональные компоненты?</a:t>
            </a:r>
            <a:endParaRPr lang="ru" dirty="0"/>
          </a:p>
        </p:txBody>
      </p:sp>
      <p:pic>
        <p:nvPicPr>
          <p:cNvPr id="12" name="Замещающая рамка рисунка 11" descr="Белые и розовые цветы крупным планом">
            <a:extLst>
              <a:ext uri="{FF2B5EF4-FFF2-40B4-BE49-F238E27FC236}">
                <a16:creationId xmlns:a16="http://schemas.microsoft.com/office/drawing/2014/main" id="{638025BA-3E49-3EFD-417E-955B4B95B2B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5174458" cy="6858000"/>
          </a:xfr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9048" y="2962656"/>
            <a:ext cx="5385816" cy="270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 rtl="0"/>
            <a:r>
              <a:rPr lang="ru-RU" dirty="0"/>
              <a:t>Функциональные компоненты — это простые функции JavaScript, которые возвращают JSX. Они являются основным способом написания компонентов в современном </a:t>
            </a:r>
            <a:r>
              <a:rPr lang="ru-RU" dirty="0" err="1"/>
              <a:t>React</a:t>
            </a:r>
            <a:r>
              <a:rPr lang="ru-RU" dirty="0"/>
              <a:t>.</a:t>
            </a:r>
          </a:p>
        </p:txBody>
      </p:sp>
      <p:sp>
        <p:nvSpPr>
          <p:cNvPr id="5" name="Местозаполнитель номера слайда 4">
            <a:extLst>
              <a:ext uri="{FF2B5EF4-FFF2-40B4-BE49-F238E27FC236}">
                <a16:creationId xmlns:a16="http://schemas.microsoft.com/office/drawing/2014/main" id="{E902A7C2-1D63-EFD6-869B-2F167F966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961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B3246B-8AB7-A0C9-C6DD-5D9F49D5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 rtlCol="0"/>
          <a:lstStyle/>
          <a:p>
            <a:pPr rtl="0"/>
            <a:r>
              <a:rPr lang="ru-RU" dirty="0"/>
              <a:t>Особенности функциональных компонентов</a:t>
            </a:r>
            <a:endParaRPr lang="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20DCAFD-6C4D-D08A-CF94-0DA099CE4B5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432304"/>
            <a:ext cx="6163056" cy="3739896"/>
          </a:xfrm>
        </p:spPr>
        <p:txBody>
          <a:bodyPr rtlCol="0">
            <a:normAutofit/>
          </a:bodyPr>
          <a:lstStyle/>
          <a:p>
            <a:pPr rtl="0"/>
            <a:r>
              <a:rPr lang="ru-RU" dirty="0"/>
              <a:t>Имя компонента должно начинаться с заглавной буквы (</a:t>
            </a:r>
            <a:r>
              <a:rPr lang="ru-RU" dirty="0" err="1"/>
              <a:t>Hello</a:t>
            </a:r>
            <a:r>
              <a:rPr lang="ru-RU" dirty="0"/>
              <a:t>, а не </a:t>
            </a:r>
            <a:r>
              <a:rPr lang="ru-RU" dirty="0" err="1"/>
              <a:t>hello</a:t>
            </a:r>
            <a:r>
              <a:rPr lang="ru-RU" dirty="0"/>
              <a:t>).</a:t>
            </a:r>
          </a:p>
          <a:p>
            <a:pPr rtl="0"/>
            <a:r>
              <a:rPr lang="ru-RU" dirty="0"/>
              <a:t>Возвращают JSX (можно один элемент или обёрнутые в &lt;</a:t>
            </a:r>
            <a:r>
              <a:rPr lang="ru-RU" dirty="0" err="1"/>
              <a:t>div</a:t>
            </a:r>
            <a:r>
              <a:rPr lang="ru-RU" dirty="0"/>
              <a:t>&gt;/&lt;&gt;...&lt;/&gt; элементы).</a:t>
            </a:r>
          </a:p>
          <a:p>
            <a:pPr rtl="0"/>
            <a:r>
              <a:rPr lang="ru-RU" dirty="0"/>
              <a:t>Не имеют собственного состояния по умолчанию, но могут использовать хуки (</a:t>
            </a:r>
            <a:r>
              <a:rPr lang="ru-RU" dirty="0" err="1"/>
              <a:t>useState</a:t>
            </a:r>
            <a:r>
              <a:rPr lang="ru-RU" dirty="0"/>
              <a:t>, </a:t>
            </a:r>
            <a:r>
              <a:rPr lang="ru-RU" dirty="0" err="1"/>
              <a:t>useEffect</a:t>
            </a:r>
            <a:r>
              <a:rPr lang="ru-RU" dirty="0"/>
              <a:t> и др.).</a:t>
            </a:r>
          </a:p>
          <a:p>
            <a:pPr rtl="0"/>
            <a:r>
              <a:rPr lang="ru-RU" dirty="0"/>
              <a:t>Более просты и удобны, чем классовые компоненты.</a:t>
            </a:r>
          </a:p>
        </p:txBody>
      </p:sp>
      <p:sp>
        <p:nvSpPr>
          <p:cNvPr id="6" name="Местозаполнитель содержимого 5">
            <a:extLst>
              <a:ext uri="{FF2B5EF4-FFF2-40B4-BE49-F238E27FC236}">
                <a16:creationId xmlns:a16="http://schemas.microsoft.com/office/drawing/2014/main" id="{B0538762-AEBF-8FD9-03AC-305879D2DC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4928" y="2441448"/>
            <a:ext cx="4169664" cy="3703320"/>
          </a:xfrm>
        </p:spPr>
        <p:txBody>
          <a:bodyPr rtlCol="0"/>
          <a:lstStyle/>
          <a:p>
            <a:pPr rtl="0"/>
            <a:r>
              <a:rPr lang="ru-RU" dirty="0"/>
              <a:t>Преимущества функциональных компонентов</a:t>
            </a:r>
          </a:p>
          <a:p>
            <a:pPr rtl="0"/>
            <a:r>
              <a:rPr lang="ru-RU" dirty="0"/>
              <a:t>•	Простота и читаемость кода.</a:t>
            </a:r>
          </a:p>
          <a:p>
            <a:pPr rtl="0"/>
            <a:r>
              <a:rPr lang="ru-RU" dirty="0"/>
              <a:t>•	Легко тестировать.</a:t>
            </a:r>
          </a:p>
          <a:p>
            <a:pPr rtl="0"/>
            <a:r>
              <a:rPr lang="ru-RU" dirty="0"/>
              <a:t>•	Поддержка хуков, что делает их мощными.</a:t>
            </a:r>
          </a:p>
          <a:p>
            <a:pPr rtl="0"/>
            <a:r>
              <a:rPr lang="ru-RU" dirty="0"/>
              <a:t>•	Рекомендуемый стандарт в современном </a:t>
            </a:r>
            <a:r>
              <a:rPr lang="ru-RU" dirty="0" err="1"/>
              <a:t>React</a:t>
            </a:r>
            <a:r>
              <a:rPr lang="ru-RU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451A59-0D86-B758-5926-53062622A5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388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FE0DBD-0B2D-6832-A30D-1A703185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>
                <a:solidFill>
                  <a:schemeClr val="bg1"/>
                </a:solidFill>
              </a:rPr>
              <a:t>Пример с состоянием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F5138A-B125-D716-1DF1-A12D0FBDFA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21</a:t>
            </a:fld>
            <a:endParaRPr lang="en-US" dirty="0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062557DF-90C7-4E30-BB3A-FDC3E166C3D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86496" y="1828800"/>
            <a:ext cx="8568519" cy="464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406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722376"/>
            <a:ext cx="6419088" cy="930578"/>
          </a:xfrm>
          <a:noFill/>
        </p:spPr>
        <p:txBody>
          <a:bodyPr rtlCol="0">
            <a:noAutofit/>
          </a:bodyPr>
          <a:lstStyle/>
          <a:p>
            <a:pPr rtl="0"/>
            <a:r>
              <a:rPr lang="ru-RU" dirty="0"/>
              <a:t>Немного о хуках</a:t>
            </a:r>
            <a:endParaRPr lang="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3910" y="1487659"/>
            <a:ext cx="6419088" cy="4939518"/>
          </a:xfrm>
          <a:noFill/>
        </p:spPr>
        <p:txBody>
          <a:bodyPr rtlCol="0">
            <a:normAutofit fontScale="92500" lnSpcReduction="10000"/>
          </a:bodyPr>
          <a:lstStyle/>
          <a:p>
            <a:pPr rtl="0"/>
            <a:r>
              <a:rPr lang="ru-RU" dirty="0">
                <a:solidFill>
                  <a:schemeClr val="tx1"/>
                </a:solidFill>
              </a:rPr>
              <a:t>Базовые хуки в </a:t>
            </a:r>
            <a:r>
              <a:rPr lang="en-US" dirty="0">
                <a:solidFill>
                  <a:schemeClr val="tx1"/>
                </a:solidFill>
              </a:rPr>
              <a:t>React</a:t>
            </a:r>
            <a:r>
              <a:rPr lang="ru-RU" dirty="0">
                <a:solidFill>
                  <a:schemeClr val="tx1"/>
                </a:solidFill>
              </a:rPr>
              <a:t>:</a:t>
            </a:r>
            <a:endParaRPr lang="en-US" dirty="0">
              <a:solidFill>
                <a:schemeClr val="tx1"/>
              </a:solidFill>
            </a:endParaRPr>
          </a:p>
          <a:p>
            <a:pPr algn="just" rtl="0"/>
            <a:r>
              <a:rPr lang="en-US" sz="2600" dirty="0" err="1">
                <a:solidFill>
                  <a:schemeClr val="tx1"/>
                </a:solidFill>
              </a:rPr>
              <a:t>useState</a:t>
            </a:r>
            <a:r>
              <a:rPr lang="en-US" sz="2600" dirty="0">
                <a:solidFill>
                  <a:schemeClr val="tx1"/>
                </a:solidFill>
              </a:rPr>
              <a:t> (</a:t>
            </a:r>
            <a:r>
              <a:rPr lang="ru-RU" sz="2600" dirty="0">
                <a:solidFill>
                  <a:schemeClr val="tx1"/>
                </a:solidFill>
              </a:rPr>
              <a:t>Управление состоянием компонента, возвращает значение и функцию обновления)</a:t>
            </a:r>
          </a:p>
          <a:p>
            <a:pPr algn="just" rtl="0"/>
            <a:r>
              <a:rPr lang="en-US" sz="2600" dirty="0" err="1">
                <a:solidFill>
                  <a:schemeClr val="tx1"/>
                </a:solidFill>
              </a:rPr>
              <a:t>useEffect</a:t>
            </a:r>
            <a:r>
              <a:rPr lang="ru-RU" sz="2600" dirty="0">
                <a:solidFill>
                  <a:schemeClr val="tx1"/>
                </a:solidFill>
              </a:rPr>
              <a:t> (Побочные эффекты (запросы, подписки), запускается после рендера)</a:t>
            </a:r>
          </a:p>
          <a:p>
            <a:pPr algn="just" rtl="0"/>
            <a:endParaRPr lang="ru-RU" sz="2600" dirty="0">
              <a:solidFill>
                <a:schemeClr val="tx1"/>
              </a:solidFill>
            </a:endParaRPr>
          </a:p>
          <a:p>
            <a:pPr algn="just" rtl="0"/>
            <a:r>
              <a:rPr lang="en-US" sz="2600" dirty="0" err="1">
                <a:solidFill>
                  <a:schemeClr val="tx1"/>
                </a:solidFill>
              </a:rPr>
              <a:t>useContext</a:t>
            </a:r>
            <a:r>
              <a:rPr lang="ru-RU" sz="2600" dirty="0">
                <a:solidFill>
                  <a:schemeClr val="tx1"/>
                </a:solidFill>
              </a:rPr>
              <a:t> (Доступ к значению контекста)</a:t>
            </a:r>
          </a:p>
          <a:p>
            <a:pPr algn="just" rtl="0"/>
            <a:r>
              <a:rPr lang="en-US" sz="2600" dirty="0" err="1">
                <a:solidFill>
                  <a:schemeClr val="tx1"/>
                </a:solidFill>
              </a:rPr>
              <a:t>useReducer</a:t>
            </a:r>
            <a:r>
              <a:rPr lang="ru-RU" sz="2600" dirty="0">
                <a:solidFill>
                  <a:schemeClr val="tx1"/>
                </a:solidFill>
              </a:rPr>
              <a:t> (Альтернатива </a:t>
            </a:r>
            <a:r>
              <a:rPr lang="ru-RU" sz="2600" dirty="0" err="1">
                <a:solidFill>
                  <a:schemeClr val="tx1"/>
                </a:solidFill>
              </a:rPr>
              <a:t>useState</a:t>
            </a:r>
            <a:r>
              <a:rPr lang="ru-RU" sz="2600" dirty="0">
                <a:solidFill>
                  <a:schemeClr val="tx1"/>
                </a:solidFill>
              </a:rPr>
              <a:t> для сложного состояния)</a:t>
            </a:r>
          </a:p>
          <a:p>
            <a:pPr algn="just" rtl="0"/>
            <a:r>
              <a:rPr lang="en-US" sz="2600" dirty="0" err="1">
                <a:solidFill>
                  <a:schemeClr val="tx1"/>
                </a:solidFill>
              </a:rPr>
              <a:t>useRef</a:t>
            </a:r>
            <a:r>
              <a:rPr lang="ru-RU" sz="2600" dirty="0">
                <a:solidFill>
                  <a:schemeClr val="tx1"/>
                </a:solidFill>
              </a:rPr>
              <a:t> (Ссылка на </a:t>
            </a:r>
            <a:r>
              <a:rPr lang="en-US" sz="2600" dirty="0">
                <a:solidFill>
                  <a:schemeClr val="tx1"/>
                </a:solidFill>
              </a:rPr>
              <a:t>DOM-</a:t>
            </a:r>
            <a:r>
              <a:rPr lang="ru-RU" sz="2600" dirty="0">
                <a:solidFill>
                  <a:schemeClr val="tx1"/>
                </a:solidFill>
              </a:rPr>
              <a:t>элемент, хранение изменяемого значения без </a:t>
            </a:r>
            <a:r>
              <a:rPr lang="ru-RU" sz="2600" dirty="0" err="1">
                <a:solidFill>
                  <a:schemeClr val="tx1"/>
                </a:solidFill>
              </a:rPr>
              <a:t>ререндера</a:t>
            </a:r>
            <a:r>
              <a:rPr lang="ru-RU" sz="2600" dirty="0">
                <a:solidFill>
                  <a:schemeClr val="tx1"/>
                </a:solidFill>
              </a:rPr>
              <a:t>)</a:t>
            </a:r>
          </a:p>
          <a:p>
            <a:pPr algn="just" rtl="0"/>
            <a:r>
              <a:rPr lang="en-US" sz="2600" dirty="0" err="1">
                <a:solidFill>
                  <a:schemeClr val="tx1"/>
                </a:solidFill>
              </a:rPr>
              <a:t>useMemo</a:t>
            </a:r>
            <a:r>
              <a:rPr lang="en-US" sz="2600" dirty="0">
                <a:solidFill>
                  <a:schemeClr val="tx1"/>
                </a:solidFill>
              </a:rPr>
              <a:t> / </a:t>
            </a:r>
            <a:r>
              <a:rPr lang="en-US" sz="2600" dirty="0" err="1">
                <a:solidFill>
                  <a:schemeClr val="tx1"/>
                </a:solidFill>
              </a:rPr>
              <a:t>useCallback</a:t>
            </a:r>
            <a:r>
              <a:rPr lang="ru-RU" sz="2600" dirty="0">
                <a:solidFill>
                  <a:schemeClr val="tx1"/>
                </a:solidFill>
              </a:rPr>
              <a:t> (Оптимизация производительности)</a:t>
            </a:r>
          </a:p>
          <a:p>
            <a:pPr rtl="0"/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9" name="Замещающая рамка рисунка 5" descr="Купа оранжевых цветов">
            <a:extLst>
              <a:ext uri="{FF2B5EF4-FFF2-40B4-BE49-F238E27FC236}">
                <a16:creationId xmlns:a16="http://schemas.microsoft.com/office/drawing/2014/main" id="{B0E612D5-D631-0C31-BE9E-28739243329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501"/>
                    </a14:imgEffect>
                    <a14:imgEffect>
                      <a14:saturation sat="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7536" y="0"/>
            <a:ext cx="4434464" cy="6858000"/>
          </a:xfrm>
          <a:solidFill>
            <a:schemeClr val="bg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2482700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Замещающая рамка рисунка 4" descr="Букет цветов">
            <a:extLst>
              <a:ext uri="{FF2B5EF4-FFF2-40B4-BE49-F238E27FC236}">
                <a16:creationId xmlns:a16="http://schemas.microsoft.com/office/drawing/2014/main" id="{2E09DD34-43D4-3713-535D-7E9D95D3F4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F9772E4-10E9-13DE-8AE8-35BBB9DD1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</p:spPr>
        <p:txBody>
          <a:bodyPr rtlCol="0"/>
          <a:lstStyle/>
          <a:p>
            <a:pPr rtl="0"/>
            <a:r>
              <a:rPr lang="ru-RU" sz="4000" dirty="0"/>
              <a:t>Функциональные компоненты</a:t>
            </a:r>
            <a:endParaRPr lang="ru" sz="4000" dirty="0"/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F7C09E8F-C241-2F75-70EA-32EC69551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</p:spPr>
        <p:txBody>
          <a:bodyPr rtlCol="0"/>
          <a:lstStyle/>
          <a:p>
            <a:pPr rtl="0"/>
            <a:r>
              <a:rPr lang="ru-RU" dirty="0"/>
              <a:t>5-8</a:t>
            </a:r>
            <a:r>
              <a:rPr lang="en-US" dirty="0"/>
              <a:t> </a:t>
            </a:r>
            <a:r>
              <a:rPr lang="ru-RU" dirty="0"/>
              <a:t>лекция</a:t>
            </a:r>
            <a:endParaRPr lang="ru" dirty="0"/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9318DF20-A4C4-3800-A69E-4E11F5A11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15117" y="3822700"/>
            <a:ext cx="53213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абличка 12">
            <a:extLst>
              <a:ext uri="{FF2B5EF4-FFF2-40B4-BE49-F238E27FC236}">
                <a16:creationId xmlns:a16="http://schemas.microsoft.com/office/drawing/2014/main" id="{AC9EB422-5602-36FF-E543-5B0C70E56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4867" y="1269576"/>
            <a:ext cx="6781800" cy="4343824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14" name="Изображение 13">
            <a:extLst>
              <a:ext uri="{FF2B5EF4-FFF2-40B4-BE49-F238E27FC236}">
                <a16:creationId xmlns:a16="http://schemas.microsoft.com/office/drawing/2014/main" id="{A053B63A-99EB-DBC1-DE80-E5E5214EF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9728" y="3681876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341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67496"/>
            <a:ext cx="5385816" cy="1121224"/>
          </a:xfrm>
        </p:spPr>
        <p:txBody>
          <a:bodyPr rtlCol="0" anchor="b">
            <a:normAutofit fontScale="90000"/>
          </a:bodyPr>
          <a:lstStyle/>
          <a:p>
            <a:pPr rtl="0"/>
            <a:r>
              <a:rPr lang="ru-RU" dirty="0" err="1"/>
              <a:t>Props</a:t>
            </a:r>
            <a:r>
              <a:rPr lang="ru-RU" dirty="0"/>
              <a:t>: передача данных в компоненты</a:t>
            </a:r>
            <a:endParaRPr lang="ru" dirty="0"/>
          </a:p>
        </p:txBody>
      </p:sp>
      <p:pic>
        <p:nvPicPr>
          <p:cNvPr id="12" name="Замещающая рамка рисунка 11" descr="Белые и розовые цветы крупным планом">
            <a:extLst>
              <a:ext uri="{FF2B5EF4-FFF2-40B4-BE49-F238E27FC236}">
                <a16:creationId xmlns:a16="http://schemas.microsoft.com/office/drawing/2014/main" id="{638025BA-3E49-3EFD-417E-955B4B95B2B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5174458" cy="6858000"/>
          </a:xfr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7252" y="1188720"/>
            <a:ext cx="5385816" cy="270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 rtl="0"/>
            <a:r>
              <a:rPr lang="ru-RU" dirty="0" err="1"/>
              <a:t>Props</a:t>
            </a:r>
            <a:r>
              <a:rPr lang="ru-RU" dirty="0"/>
              <a:t> (сокращение от </a:t>
            </a:r>
            <a:r>
              <a:rPr lang="ru-RU" dirty="0" err="1"/>
              <a:t>properties</a:t>
            </a:r>
            <a:r>
              <a:rPr lang="ru-RU" dirty="0"/>
              <a:t>) — это способ передачи данных от родительского компонента к дочернему.</a:t>
            </a:r>
          </a:p>
        </p:txBody>
      </p:sp>
      <p:sp>
        <p:nvSpPr>
          <p:cNvPr id="5" name="Местозаполнитель номера слайда 4">
            <a:extLst>
              <a:ext uri="{FF2B5EF4-FFF2-40B4-BE49-F238E27FC236}">
                <a16:creationId xmlns:a16="http://schemas.microsoft.com/office/drawing/2014/main" id="{E902A7C2-1D63-EFD6-869B-2F167F966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US" smtClean="0"/>
              <a:t>24</a:t>
            </a:fld>
            <a:endParaRPr lang="en-US" dirty="0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12192516-E722-4FC6-B236-9F0C9810D5B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096000" y="2854325"/>
            <a:ext cx="5125085" cy="38671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2EE722-0904-4007-8453-ADB4B6B1BDEC}"/>
              </a:ext>
            </a:extLst>
          </p:cNvPr>
          <p:cNvSpPr txBox="1"/>
          <p:nvPr/>
        </p:nvSpPr>
        <p:spPr>
          <a:xfrm>
            <a:off x="8436132" y="6124651"/>
            <a:ext cx="2644244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sz="1800" dirty="0" err="1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Здесь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name — </a:t>
            </a:r>
            <a:r>
              <a:rPr lang="en-US" sz="1800" dirty="0" err="1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prop.</a:t>
            </a:r>
            <a:endParaRPr lang="ru-RU" sz="1600" dirty="0">
              <a:solidFill>
                <a:schemeClr val="bg1">
                  <a:lumMod val="95000"/>
                </a:schemeClr>
              </a:solidFill>
              <a:effectLst/>
              <a:latin typeface="Aptos"/>
              <a:ea typeface="Aptos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0384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9443C06-A530-329A-9ECC-3E0484827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584" y="1408176"/>
            <a:ext cx="3392424" cy="4014216"/>
          </a:xfrm>
        </p:spPr>
        <p:txBody>
          <a:bodyPr rtlCol="0"/>
          <a:lstStyle/>
          <a:p>
            <a:pPr rtl="0"/>
            <a:r>
              <a:rPr lang="en-US" dirty="0"/>
              <a:t>State </a:t>
            </a:r>
            <a:r>
              <a:rPr lang="ru-RU" dirty="0"/>
              <a:t>и </a:t>
            </a:r>
            <a:r>
              <a:rPr lang="en-US" dirty="0" err="1"/>
              <a:t>useState</a:t>
            </a:r>
            <a:endParaRPr lang="en-US" dirty="0"/>
          </a:p>
        </p:txBody>
      </p:sp>
      <p:sp>
        <p:nvSpPr>
          <p:cNvPr id="10" name="Местозаполнитель содержимого 9">
            <a:extLst>
              <a:ext uri="{FF2B5EF4-FFF2-40B4-BE49-F238E27FC236}">
                <a16:creationId xmlns:a16="http://schemas.microsoft.com/office/drawing/2014/main" id="{ED45388B-F6C6-3BAE-BC81-AD233BEC858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685800"/>
            <a:ext cx="5276088" cy="1563624"/>
          </a:xfrm>
        </p:spPr>
        <p:txBody>
          <a:bodyPr rtlCol="0"/>
          <a:lstStyle/>
          <a:p>
            <a:pPr marL="0" indent="0" rtl="0">
              <a:buNone/>
            </a:pPr>
            <a:r>
              <a:rPr lang="ru-RU" sz="2000" dirty="0"/>
              <a:t>State — это внутреннее состояние компонента, которое может изменяться со временем. Используется хук </a:t>
            </a:r>
            <a:r>
              <a:rPr lang="en-US" sz="2000" dirty="0" err="1"/>
              <a:t>useState</a:t>
            </a:r>
            <a:r>
              <a:rPr lang="en-US" sz="2000" dirty="0"/>
              <a:t>: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302C321-51E3-42FB-272E-92F2DCF5A9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25</a:t>
            </a:fld>
            <a:endParaRPr lang="en-US" dirty="0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87812A1E-A011-430B-B50E-A1502AC857F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8774" y="1765251"/>
            <a:ext cx="6152515" cy="4195445"/>
          </a:xfrm>
          <a:prstGeom prst="rect">
            <a:avLst/>
          </a:prstGeom>
        </p:spPr>
      </p:pic>
      <p:sp>
        <p:nvSpPr>
          <p:cNvPr id="8" name="Местозаполнитель содержимого 9">
            <a:extLst>
              <a:ext uri="{FF2B5EF4-FFF2-40B4-BE49-F238E27FC236}">
                <a16:creationId xmlns:a16="http://schemas.microsoft.com/office/drawing/2014/main" id="{09BA9513-43A2-418D-B541-BE234ACE55EA}"/>
              </a:ext>
            </a:extLst>
          </p:cNvPr>
          <p:cNvSpPr txBox="1">
            <a:spLocks/>
          </p:cNvSpPr>
          <p:nvPr/>
        </p:nvSpPr>
        <p:spPr>
          <a:xfrm>
            <a:off x="1137842" y="5757100"/>
            <a:ext cx="5276088" cy="15636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+mj-lt"/>
              <a:buAutoNum type="arabicPeriod"/>
              <a:defRPr sz="2400" kern="1200">
                <a:solidFill>
                  <a:schemeClr val="tx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+mj-lt"/>
              <a:buAutoNum type="alphaLcPeriod"/>
              <a:defRPr sz="2400" kern="1200">
                <a:solidFill>
                  <a:schemeClr val="tx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+mj-lt"/>
              <a:buAutoNum type="romanLcPeriod"/>
              <a:defRPr sz="2000" kern="1200">
                <a:solidFill>
                  <a:schemeClr val="tx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+mj-lt"/>
              <a:buAutoNum type="arabicParenR"/>
              <a:defRPr sz="1800" kern="1200">
                <a:solidFill>
                  <a:schemeClr val="tx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+mj-lt"/>
              <a:buAutoNum type="alphaLcParenR"/>
              <a:defRPr sz="1600" kern="1200">
                <a:solidFill>
                  <a:schemeClr val="tx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6A3D65-CCCC-41C6-9F2A-AD8E3B99D84A}"/>
              </a:ext>
            </a:extLst>
          </p:cNvPr>
          <p:cNvSpPr txBox="1"/>
          <p:nvPr/>
        </p:nvSpPr>
        <p:spPr>
          <a:xfrm>
            <a:off x="932688" y="5891254"/>
            <a:ext cx="6015432" cy="930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Gill Sans Nova Light (Основной текст)"/>
                <a:ea typeface="Aptos"/>
                <a:cs typeface="Symbol" panose="05050102010706020507" pitchFamily="18" charset="2"/>
              </a:rPr>
              <a:t>count — </a:t>
            </a:r>
            <a:r>
              <a:rPr lang="en-US" sz="1800" dirty="0" err="1">
                <a:effectLst/>
                <a:latin typeface="Gill Sans Nova Light (Основной текст)"/>
                <a:ea typeface="Aptos"/>
                <a:cs typeface="Symbol" panose="05050102010706020507" pitchFamily="18" charset="2"/>
              </a:rPr>
              <a:t>текущее</a:t>
            </a:r>
            <a:r>
              <a:rPr lang="en-US" sz="1800" dirty="0">
                <a:effectLst/>
                <a:latin typeface="Gill Sans Nova Light (Основной текст)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Gill Sans Nova Light (Основной текст)"/>
                <a:ea typeface="Aptos"/>
                <a:cs typeface="Symbol" panose="05050102010706020507" pitchFamily="18" charset="2"/>
              </a:rPr>
              <a:t>значение</a:t>
            </a:r>
            <a:r>
              <a:rPr lang="en-US" sz="1800" dirty="0">
                <a:effectLst/>
                <a:latin typeface="Gill Sans Nova Light (Основной текст)"/>
                <a:ea typeface="Aptos"/>
                <a:cs typeface="Symbol" panose="05050102010706020507" pitchFamily="18" charset="2"/>
              </a:rPr>
              <a:t>.</a:t>
            </a:r>
            <a:endParaRPr lang="ru-RU" sz="1600" dirty="0">
              <a:effectLst/>
              <a:latin typeface="Gill Sans Nova Light (Основной текст)"/>
              <a:ea typeface="Aptos"/>
              <a:cs typeface="Symbol" panose="05050102010706020507" pitchFamily="18" charset="2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effectLst/>
                <a:latin typeface="Gill Sans Nova Light (Основной текст)"/>
                <a:ea typeface="Aptos"/>
                <a:cs typeface="Symbol" panose="05050102010706020507" pitchFamily="18" charset="2"/>
              </a:rPr>
              <a:t>setCount</a:t>
            </a:r>
            <a:r>
              <a:rPr lang="en-US" sz="1800" dirty="0">
                <a:effectLst/>
                <a:latin typeface="Gill Sans Nova Light (Основной текст)"/>
                <a:ea typeface="Aptos"/>
                <a:cs typeface="Symbol" panose="05050102010706020507" pitchFamily="18" charset="2"/>
              </a:rPr>
              <a:t> — </a:t>
            </a:r>
            <a:r>
              <a:rPr lang="en-US" sz="1800" dirty="0" err="1">
                <a:effectLst/>
                <a:latin typeface="Gill Sans Nova Light (Основной текст)"/>
                <a:ea typeface="Aptos"/>
                <a:cs typeface="Symbol" panose="05050102010706020507" pitchFamily="18" charset="2"/>
              </a:rPr>
              <a:t>функция</a:t>
            </a:r>
            <a:r>
              <a:rPr lang="en-US" sz="1800" dirty="0">
                <a:effectLst/>
                <a:latin typeface="Gill Sans Nova Light (Основной текст)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Gill Sans Nova Light (Основной текст)"/>
                <a:ea typeface="Aptos"/>
                <a:cs typeface="Symbol" panose="05050102010706020507" pitchFamily="18" charset="2"/>
              </a:rPr>
              <a:t>для</a:t>
            </a:r>
            <a:r>
              <a:rPr lang="en-US" sz="1800" dirty="0">
                <a:effectLst/>
                <a:latin typeface="Gill Sans Nova Light (Основной текст)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Gill Sans Nova Light (Основной текст)"/>
                <a:ea typeface="Aptos"/>
                <a:cs typeface="Symbol" panose="05050102010706020507" pitchFamily="18" charset="2"/>
              </a:rPr>
              <a:t>изменения</a:t>
            </a:r>
            <a:r>
              <a:rPr lang="en-US" sz="1800" dirty="0">
                <a:effectLst/>
                <a:latin typeface="Gill Sans Nova Light (Основной текст)"/>
                <a:ea typeface="Aptos"/>
                <a:cs typeface="Symbol" panose="05050102010706020507" pitchFamily="18" charset="2"/>
              </a:rPr>
              <a:t>.</a:t>
            </a:r>
            <a:endParaRPr lang="ru-RU" sz="1600" dirty="0">
              <a:effectLst/>
              <a:latin typeface="Gill Sans Nova Light (Основной текст)"/>
              <a:ea typeface="Aptos"/>
              <a:cs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804022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2057FFDB-DFEC-7174-F23F-20C423A03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7076" y="336559"/>
            <a:ext cx="6419088" cy="884154"/>
          </a:xfrm>
        </p:spPr>
        <p:txBody>
          <a:bodyPr rtlCol="0">
            <a:normAutofit fontScale="90000"/>
          </a:bodyPr>
          <a:lstStyle/>
          <a:p>
            <a:pPr rtl="0"/>
            <a:r>
              <a:rPr lang="ru-RU" dirty="0"/>
              <a:t>События и обработка событий</a:t>
            </a:r>
            <a:endParaRPr lang="ru" dirty="0"/>
          </a:p>
        </p:txBody>
      </p:sp>
      <p:pic>
        <p:nvPicPr>
          <p:cNvPr id="8" name="Замещающая рамка рисунка 7" descr="Желтые цветы крупным планом">
            <a:extLst>
              <a:ext uri="{FF2B5EF4-FFF2-40B4-BE49-F238E27FC236}">
                <a16:creationId xmlns:a16="http://schemas.microsoft.com/office/drawing/2014/main" id="{A30CECCA-DB43-3EBC-1ED9-4E7CD74EE3E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434464" cy="6858000"/>
          </a:xfrm>
        </p:spPr>
      </p:pic>
      <p:sp>
        <p:nvSpPr>
          <p:cNvPr id="4" name="Местозаполнитель содержимого 3">
            <a:extLst>
              <a:ext uri="{FF2B5EF4-FFF2-40B4-BE49-F238E27FC236}">
                <a16:creationId xmlns:a16="http://schemas.microsoft.com/office/drawing/2014/main" id="{D6F3EE20-53E0-0C62-809D-211B05B880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352054" y="1444501"/>
            <a:ext cx="6419088" cy="922490"/>
          </a:xfrm>
        </p:spPr>
        <p:txBody>
          <a:bodyPr rtlCol="0">
            <a:normAutofit/>
          </a:bodyPr>
          <a:lstStyle/>
          <a:p>
            <a:pPr algn="l" latinLnBrk="1">
              <a:lnSpc>
                <a:spcPct val="150000"/>
              </a:lnSpc>
              <a:spcAft>
                <a:spcPts val="1000"/>
              </a:spcAft>
            </a:pPr>
            <a:r>
              <a:rPr lang="ru-RU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В </a:t>
            </a:r>
            <a:r>
              <a:rPr lang="ru-RU" sz="16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React</a:t>
            </a:r>
            <a:r>
              <a:rPr lang="ru-RU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обработчики событий пишутся в формате </a:t>
            </a:r>
            <a:r>
              <a:rPr lang="ru-RU" sz="16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camelCase</a:t>
            </a:r>
            <a:r>
              <a:rPr lang="ru-RU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и передаются как функции.</a:t>
            </a:r>
            <a:endParaRPr lang="ru-RU" sz="1600" dirty="0">
              <a:solidFill>
                <a:schemeClr val="tx1"/>
              </a:solidFill>
              <a:effectLst/>
              <a:latin typeface="Consolas" panose="020B0609020204030204" pitchFamily="49" charset="0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3" name="Местозаполнитель номера слайда 2">
            <a:extLst>
              <a:ext uri="{FF2B5EF4-FFF2-40B4-BE49-F238E27FC236}">
                <a16:creationId xmlns:a16="http://schemas.microsoft.com/office/drawing/2014/main" id="{B8F090ED-AB65-F860-A6D0-5F6E60E175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26</a:t>
            </a:fld>
            <a:endParaRPr lang="en-US" dirty="0"/>
          </a:p>
        </p:txBody>
      </p:sp>
      <p:sp>
        <p:nvSpPr>
          <p:cNvPr id="7" name="Заголовок 5">
            <a:extLst>
              <a:ext uri="{FF2B5EF4-FFF2-40B4-BE49-F238E27FC236}">
                <a16:creationId xmlns:a16="http://schemas.microsoft.com/office/drawing/2014/main" id="{E67E7A89-4724-4AA4-8407-0CE442F3A731}"/>
              </a:ext>
            </a:extLst>
          </p:cNvPr>
          <p:cNvSpPr txBox="1">
            <a:spLocks/>
          </p:cNvSpPr>
          <p:nvPr/>
        </p:nvSpPr>
        <p:spPr>
          <a:xfrm>
            <a:off x="5097076" y="3214574"/>
            <a:ext cx="6419088" cy="88415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" dirty="0"/>
          </a:p>
        </p:txBody>
      </p:sp>
      <p:sp>
        <p:nvSpPr>
          <p:cNvPr id="9" name="Местозаполнитель содержимого 3">
            <a:extLst>
              <a:ext uri="{FF2B5EF4-FFF2-40B4-BE49-F238E27FC236}">
                <a16:creationId xmlns:a16="http://schemas.microsoft.com/office/drawing/2014/main" id="{02F0986B-3C90-4CD1-AD96-968A019866F0}"/>
              </a:ext>
            </a:extLst>
          </p:cNvPr>
          <p:cNvSpPr txBox="1">
            <a:spLocks/>
          </p:cNvSpPr>
          <p:nvPr/>
        </p:nvSpPr>
        <p:spPr>
          <a:xfrm>
            <a:off x="5249477" y="4023820"/>
            <a:ext cx="6419088" cy="2332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2400" kern="1200">
                <a:solidFill>
                  <a:schemeClr val="tx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latinLnBrk="1">
              <a:lnSpc>
                <a:spcPct val="150000"/>
              </a:lnSpc>
              <a:spcAft>
                <a:spcPts val="1000"/>
              </a:spcAft>
            </a:pPr>
            <a:endParaRPr lang="ru-RU" sz="1800" dirty="0">
              <a:effectLst/>
              <a:latin typeface="Consolas" panose="020B0609020204030204" pitchFamily="49" charset="0"/>
              <a:ea typeface="Aptos"/>
              <a:cs typeface="Times New Roman" panose="02020603050405020304" pitchFamily="18" charset="0"/>
            </a:endParaRP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40C10AD5-C9B8-49C2-9F52-D7CC37D1455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352054" y="2247900"/>
            <a:ext cx="6152515" cy="2362200"/>
          </a:xfrm>
          <a:prstGeom prst="rect">
            <a:avLst/>
          </a:prstGeom>
        </p:spPr>
      </p:pic>
      <p:sp>
        <p:nvSpPr>
          <p:cNvPr id="12" name="Местозаполнитель содержимого 3">
            <a:extLst>
              <a:ext uri="{FF2B5EF4-FFF2-40B4-BE49-F238E27FC236}">
                <a16:creationId xmlns:a16="http://schemas.microsoft.com/office/drawing/2014/main" id="{5E57CB17-8E25-4F21-89F1-6C4C8AB7D12E}"/>
              </a:ext>
            </a:extLst>
          </p:cNvPr>
          <p:cNvSpPr txBox="1">
            <a:spLocks/>
          </p:cNvSpPr>
          <p:nvPr/>
        </p:nvSpPr>
        <p:spPr>
          <a:xfrm>
            <a:off x="5352054" y="4588990"/>
            <a:ext cx="6419088" cy="9224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2400" kern="1200">
                <a:solidFill>
                  <a:schemeClr val="tx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latinLnBrk="1">
              <a:lnSpc>
                <a:spcPct val="150000"/>
              </a:lnSpc>
              <a:spcAft>
                <a:spcPts val="10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Aptos"/>
              </a:rPr>
              <a:t>Можно использовать стрелочную функцию:</a:t>
            </a:r>
            <a:endParaRPr lang="ru-RU" sz="1600" dirty="0">
              <a:solidFill>
                <a:schemeClr val="tx1"/>
              </a:solidFill>
              <a:latin typeface="Consolas" panose="020B0609020204030204" pitchFamily="49" charset="0"/>
              <a:ea typeface="Aptos"/>
              <a:cs typeface="Times New Roman" panose="02020603050405020304" pitchFamily="18" charset="0"/>
            </a:endParaRP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A17C66C3-66FF-404F-A163-CE6FDC0A29D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352054" y="5079574"/>
            <a:ext cx="5581954" cy="164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5236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408176"/>
            <a:ext cx="3392424" cy="4014216"/>
          </a:xfrm>
          <a:noFill/>
        </p:spPr>
        <p:txBody>
          <a:bodyPr rtlCol="0">
            <a:normAutofit/>
          </a:bodyPr>
          <a:lstStyle/>
          <a:p>
            <a:pPr rtl="0"/>
            <a:r>
              <a:rPr lang="ru-RU" sz="3600" dirty="0"/>
              <a:t>Формы в </a:t>
            </a:r>
            <a:r>
              <a:rPr lang="ru-RU" sz="3600" dirty="0" err="1"/>
              <a:t>React</a:t>
            </a:r>
            <a:r>
              <a:rPr lang="ru-RU" sz="3600" dirty="0"/>
              <a:t>: управление вводом</a:t>
            </a:r>
            <a:endParaRPr lang="ru" sz="3600" dirty="0"/>
          </a:p>
        </p:txBody>
      </p:sp>
      <p:sp>
        <p:nvSpPr>
          <p:cNvPr id="3" name="Местозаполнитель содержимого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24144" y="272562"/>
            <a:ext cx="5696712" cy="729761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marL="0" indent="0" rtl="0">
              <a:buNone/>
            </a:pPr>
            <a:r>
              <a:rPr lang="ru-RU" sz="2000" dirty="0"/>
              <a:t>В </a:t>
            </a:r>
            <a:r>
              <a:rPr lang="ru-RU" sz="2000" dirty="0" err="1"/>
              <a:t>React</a:t>
            </a:r>
            <a:r>
              <a:rPr lang="ru-RU" sz="2000" dirty="0"/>
              <a:t> формы обычно являются контролируемыми: значение поля хранится в </a:t>
            </a:r>
            <a:r>
              <a:rPr lang="ru-RU" sz="2000" dirty="0" err="1"/>
              <a:t>state</a:t>
            </a:r>
            <a:r>
              <a:rPr lang="ru-RU" sz="2000" dirty="0"/>
              <a:t>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398EC13-CC66-14BE-C305-D90EB840C4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27</a:t>
            </a:fld>
            <a:endParaRPr lang="en-US" dirty="0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D6DCD6FE-A21D-4ED1-B761-1A4D60E50AC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496242" y="1002323"/>
            <a:ext cx="6152515" cy="396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0172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EEBFBF-F8B0-D44E-B6BF-4A0429AC3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 rtlCol="0"/>
          <a:lstStyle/>
          <a:p>
            <a:pPr rtl="0"/>
            <a:r>
              <a:rPr lang="ru" dirty="0"/>
              <a:t>Итог работы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AD44121-A8E9-49A3-B086-E9F57817889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785" y="2770632"/>
            <a:ext cx="3727937" cy="3502152"/>
          </a:xfrm>
        </p:spPr>
        <p:txBody>
          <a:bodyPr rtlCol="0">
            <a:normAutofit/>
          </a:bodyPr>
          <a:lstStyle/>
          <a:p>
            <a:pPr rtl="0"/>
            <a:r>
              <a:rPr lang="ru-RU" dirty="0"/>
              <a:t>Таким образом, ввод в форму всегда синхронизирован с состоянием.</a:t>
            </a:r>
            <a:endParaRPr lang="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C69194-7927-A259-0C43-EE59A46035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28</a:t>
            </a:fld>
            <a:endParaRPr lang="en-US" dirty="0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B137B07A-94CB-4CBB-8818-D5AA84B614D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87262" y="2238790"/>
            <a:ext cx="8543192" cy="394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4311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Замещающая рамка рисунка 11" descr="Букет цветов">
            <a:extLst>
              <a:ext uri="{FF2B5EF4-FFF2-40B4-BE49-F238E27FC236}">
                <a16:creationId xmlns:a16="http://schemas.microsoft.com/office/drawing/2014/main" id="{8AB2ECDC-2C97-9031-6EF9-11EF690976E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697D649-277C-A20F-F588-7EA2B85B1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632" y="822960"/>
            <a:ext cx="6327648" cy="2221992"/>
          </a:xfrm>
        </p:spPr>
        <p:txBody>
          <a:bodyPr rtlCol="0"/>
          <a:lstStyle/>
          <a:p>
            <a:pPr rtl="0"/>
            <a:r>
              <a:rPr lang="ru-RU" dirty="0"/>
              <a:t>Конец презентации</a:t>
            </a:r>
            <a:endParaRPr lang="ru" dirty="0"/>
          </a:p>
        </p:txBody>
      </p:sp>
      <p:sp>
        <p:nvSpPr>
          <p:cNvPr id="15" name="Подзаголовок 14">
            <a:extLst>
              <a:ext uri="{FF2B5EF4-FFF2-40B4-BE49-F238E27FC236}">
                <a16:creationId xmlns:a16="http://schemas.microsoft.com/office/drawing/2014/main" id="{6EF8E06F-4153-981B-474D-3D483B6F4F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632" y="3428999"/>
            <a:ext cx="6309360" cy="1703439"/>
          </a:xfrm>
        </p:spPr>
        <p:txBody>
          <a:bodyPr rtlCol="0">
            <a:normAutofit fontScale="92500"/>
          </a:bodyPr>
          <a:lstStyle/>
          <a:p>
            <a:pPr rtl="0"/>
            <a:r>
              <a:rPr lang="ru" dirty="0"/>
              <a:t>Выполняйте практическую работу в </a:t>
            </a:r>
            <a:r>
              <a:rPr lang="en-US" dirty="0"/>
              <a:t>Classroom </a:t>
            </a:r>
            <a:r>
              <a:rPr lang="ru-RU" dirty="0">
                <a:sym typeface="Wingdings" panose="05000000000000000000" pitchFamily="2" charset="2"/>
              </a:rPr>
              <a:t> Она появится на 2 паре (10:10) сегодня. Срок сдачи – 8:30 завтра. </a:t>
            </a:r>
          </a:p>
          <a:p>
            <a:pPr rtl="0"/>
            <a:r>
              <a:rPr lang="ru-RU" dirty="0">
                <a:sym typeface="Wingdings" panose="05000000000000000000" pitchFamily="2" charset="2"/>
              </a:rPr>
              <a:t>По вопросам пишите на мою почту </a:t>
            </a:r>
            <a:r>
              <a:rPr lang="en-US" dirty="0">
                <a:sym typeface="Wingdings" panose="05000000000000000000" pitchFamily="2" charset="2"/>
              </a:rPr>
              <a:t>d.d.yushina@mpt.ru</a:t>
            </a:r>
          </a:p>
          <a:p>
            <a:pPr rtl="0"/>
            <a:endParaRPr lang="ru" dirty="0"/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DE502E84-5063-F43E-AC45-9F5CEAA69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701285" y="3209689"/>
            <a:ext cx="362454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DE43C393-A639-F47D-D8A8-BAF189C58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9787" y="3066998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040838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20">
      <a:dk1>
        <a:srgbClr val="000000"/>
      </a:dk1>
      <a:lt1>
        <a:srgbClr val="FFFFFF"/>
      </a:lt1>
      <a:dk2>
        <a:srgbClr val="CAD8D6"/>
      </a:dk2>
      <a:lt2>
        <a:srgbClr val="E7E6E6"/>
      </a:lt2>
      <a:accent1>
        <a:srgbClr val="7E8679"/>
      </a:accent1>
      <a:accent2>
        <a:srgbClr val="72292A"/>
      </a:accent2>
      <a:accent3>
        <a:srgbClr val="4A3A1C"/>
      </a:accent3>
      <a:accent4>
        <a:srgbClr val="E47D60"/>
      </a:accent4>
      <a:accent5>
        <a:srgbClr val="CEBBAF"/>
      </a:accent5>
      <a:accent6>
        <a:srgbClr val="E8DAC4"/>
      </a:accent6>
      <a:hlink>
        <a:srgbClr val="3968F6"/>
      </a:hlink>
      <a:folHlink>
        <a:srgbClr val="954F72"/>
      </a:folHlink>
    </a:clrScheme>
    <a:fontScheme name="Custom 23">
      <a:majorFont>
        <a:latin typeface="Baskerville Old Face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410444_Win32" id="{6DADA206-4374-4581-8974-7E917238E6AC}" vid="{0F151159-97E4-4815-A9D5-D69B011B07A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384BFC8-02DA-464F-AE97-4951BE47415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915FD3-F777-4046-A12C-BE3860E324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1E6BC5B-F32E-483D-A6CB-100D6BCB78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{493F6652-BF80-4E76-AF16-9DE7A2B8C7AA}TF6ca04e33-feaa-4cf5-9b27-d56362f12ac087d7dd85_win32-b8961749cfd8</Template>
  <TotalTime>49</TotalTime>
  <Words>875</Words>
  <Application>Microsoft Office PowerPoint</Application>
  <PresentationFormat>Широкоэкранный</PresentationFormat>
  <Paragraphs>140</Paragraphs>
  <Slides>29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9" baseType="lpstr">
      <vt:lpstr>Aptos</vt:lpstr>
      <vt:lpstr>Arial</vt:lpstr>
      <vt:lpstr>Baskerville Old Face</vt:lpstr>
      <vt:lpstr>Calibri</vt:lpstr>
      <vt:lpstr>Consolas</vt:lpstr>
      <vt:lpstr>Gill Sans Nova Light</vt:lpstr>
      <vt:lpstr>Gill Sans Nova Light (Основной текст)</vt:lpstr>
      <vt:lpstr>Symbol</vt:lpstr>
      <vt:lpstr>Times New Roman</vt:lpstr>
      <vt:lpstr>Пользовательская</vt:lpstr>
      <vt:lpstr>Введение в React, SPA: что это, преимущества</vt:lpstr>
      <vt:lpstr>Что такое React</vt:lpstr>
      <vt:lpstr>Что такое SPA (Single Page Application)</vt:lpstr>
      <vt:lpstr>Немного деталей</vt:lpstr>
      <vt:lpstr>Преимущества React и SPA</vt:lpstr>
      <vt:lpstr>Установка необходимых инструментов</vt:lpstr>
      <vt:lpstr>Всё, что пригодится в работе!</vt:lpstr>
      <vt:lpstr>Создание React-проекта (через Vite)</vt:lpstr>
      <vt:lpstr>А как теперь перейти в проект?</vt:lpstr>
      <vt:lpstr>Запуск проекта</vt:lpstr>
      <vt:lpstr>Структура проекта</vt:lpstr>
      <vt:lpstr>Пример простого компонента:</vt:lpstr>
      <vt:lpstr>JSX: синтаксис, выражения, комментарии</vt:lpstr>
      <vt:lpstr>Один корневой элемент:</vt:lpstr>
      <vt:lpstr>Встраивание выражений</vt:lpstr>
      <vt:lpstr>Встраивание выражений</vt:lpstr>
      <vt:lpstr> Комментарии в JSX</vt:lpstr>
      <vt:lpstr>Функциональные компоненты</vt:lpstr>
      <vt:lpstr>Что такое функциональные компоненты?</vt:lpstr>
      <vt:lpstr>Особенности функциональных компонентов</vt:lpstr>
      <vt:lpstr>Пример с состоянием</vt:lpstr>
      <vt:lpstr>Немного о хуках</vt:lpstr>
      <vt:lpstr>Функциональные компоненты</vt:lpstr>
      <vt:lpstr>Props: передача данных в компоненты</vt:lpstr>
      <vt:lpstr>State и useState</vt:lpstr>
      <vt:lpstr>События и обработка событий</vt:lpstr>
      <vt:lpstr>Формы в React: управление вводом</vt:lpstr>
      <vt:lpstr>Итог работы</vt:lpstr>
      <vt:lpstr>Конец презентации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React, SPA: что это, преимущества</dc:title>
  <dc:creator>Дарья Юшина</dc:creator>
  <cp:lastModifiedBy>Дарья Юшина</cp:lastModifiedBy>
  <cp:revision>7</cp:revision>
  <dcterms:created xsi:type="dcterms:W3CDTF">2025-09-21T19:16:09Z</dcterms:created>
  <dcterms:modified xsi:type="dcterms:W3CDTF">2025-09-21T20:05:48Z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